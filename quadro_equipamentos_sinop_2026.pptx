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5214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Calibri"/>
              </a:rPr>
              <a:t>QUADRO POR EQUIPAMENTO — LIBERAÇÃO DOS CIRCUITOS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58368"/>
            <a:ext cx="11521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77C"/>
                </a:solidFill>
                <a:latin typeface="Calibri"/>
              </a:rPr>
              <a:t>Recuperação Sistema de Grãos — Sinop 2026 (R.0)   •   atividades pequenas suprimidas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51560"/>
            <a:ext cx="7315200" cy="3063240"/>
          </a:xfrm>
          <a:prstGeom prst="roundRect">
            <a:avLst>
              <a:gd name="adj" fmla="val 4000"/>
            </a:avLst>
          </a:prstGeom>
          <a:solidFill>
            <a:srgbClr val="F1F5FD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148840"/>
            <a:ext cx="731520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Calibri"/>
              </a:rPr>
              <a:t>📷  ÁREA PARA A FOTO</a:t>
            </a:r>
          </a:p>
          <a:p>
            <a:pPr algn="ctr"/>
            <a:r>
              <a:rPr sz="1200" b="0">
                <a:solidFill>
                  <a:srgbClr val="5A677C"/>
                </a:solidFill>
                <a:latin typeface="Calibri"/>
              </a:rPr>
              <a:t>Insira aqui a foto do sistema (Inserir ▸ Imagem) e ajuste sobre esta área</a:t>
            </a:r>
          </a:p>
          <a:p>
            <a:pPr algn="ctr"/>
            <a:r>
              <a:rPr sz="1100" b="0">
                <a:solidFill>
                  <a:srgbClr val="5A677C"/>
                </a:solidFill>
                <a:latin typeface="Calibri"/>
              </a:rPr>
              <a:t>Sugestão de rótulos sobre a foto:  EL-F · CT-03 · EL-E · Duto · CT-04  +  fluxo alimentação (verde) / descarga (vermelho)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051560"/>
            <a:ext cx="406908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188720"/>
            <a:ext cx="3611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LIBERAÇÃO POR EQUIPAMENTO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6642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609344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EL-E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1609344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400" b="1">
                <a:solidFill>
                  <a:srgbClr val="6B7280"/>
                </a:solidFill>
                <a:latin typeface="Calibri"/>
              </a:rPr>
              <a:t>✖ Danificado — fora da safra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204825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93392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CT-04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1993392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400" b="1">
                <a:solidFill>
                  <a:srgbClr val="0D9488"/>
                </a:solidFill>
                <a:latin typeface="Calibri"/>
              </a:rPr>
              <a:t>Qua 17/06  19:00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243230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EL-F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377440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400" b="1">
                <a:solidFill>
                  <a:srgbClr val="16A34A"/>
                </a:solidFill>
                <a:latin typeface="Calibri"/>
              </a:rPr>
              <a:t>Qui 18/06  11:00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28163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761488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Duto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761488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400" b="1">
                <a:solidFill>
                  <a:srgbClr val="D97706"/>
                </a:solidFill>
                <a:latin typeface="Calibri"/>
              </a:rPr>
              <a:t>Sex 19/06  01:00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2" y="320040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145536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CT-03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145536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400" b="1">
                <a:solidFill>
                  <a:srgbClr val="2563EB"/>
                </a:solidFill>
                <a:latin typeface="Calibri"/>
              </a:rPr>
              <a:t>Sáb 20/06  07:00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3639312"/>
            <a:ext cx="3703320" cy="914400"/>
          </a:xfrm>
          <a:prstGeom prst="roundRect">
            <a:avLst>
              <a:gd name="adj" fmla="val 10000"/>
            </a:avLst>
          </a:prstGeom>
          <a:solidFill>
            <a:srgbClr val="E9EFFD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3712463"/>
            <a:ext cx="37033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🌽 RECEBIMENTO DE MILHO — LIBERADO EM</a:t>
            </a:r>
          </a:p>
          <a:p>
            <a:pPr algn="ctr"/>
            <a:r>
              <a:rPr sz="2400" b="1">
                <a:solidFill>
                  <a:srgbClr val="2563EB"/>
                </a:solidFill>
                <a:latin typeface="Calibri"/>
              </a:rPr>
              <a:t>Sáb 20/06 · 07:00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297680"/>
            <a:ext cx="230428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0040" y="4297680"/>
            <a:ext cx="2304288" cy="384048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489704"/>
            <a:ext cx="2304288" cy="1920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4315968"/>
            <a:ext cx="212140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CT-03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4718304"/>
            <a:ext cx="2121408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Correia principal (alim. + descarga)</a:t>
            </a:r>
          </a:p>
          <a:p>
            <a:pPr algn="l"/>
            <a:r>
              <a:rPr sz="850" b="0">
                <a:solidFill>
                  <a:srgbClr val="5A677C"/>
                </a:solidFill>
                <a:latin typeface="Calibri"/>
              </a:rPr>
              <a:t>23 serviços · 90 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5138928"/>
            <a:ext cx="210312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69" b="0">
                <a:solidFill>
                  <a:srgbClr val="1E293B"/>
                </a:solidFill>
                <a:latin typeface="Calibri"/>
              </a:rPr>
              <a:t>Reforma estrutural – 16 módulos (60 h)</a:t>
            </a:r>
          </a:p>
          <a:p>
            <a:pPr algn="l"/>
            <a:r>
              <a:rPr sz="869" b="0">
                <a:solidFill>
                  <a:srgbClr val="1E293B"/>
                </a:solidFill>
                <a:latin typeface="Calibri"/>
              </a:rPr>
              <a:t>Revisão motorredutores A e B (48 h)</a:t>
            </a:r>
          </a:p>
          <a:p>
            <a:pPr algn="l"/>
            <a:r>
              <a:rPr sz="869" b="0">
                <a:solidFill>
                  <a:srgbClr val="1E293B"/>
                </a:solidFill>
                <a:latin typeface="Calibri"/>
              </a:rPr>
              <a:t>Roletes de carga – 270 un (40 h)</a:t>
            </a:r>
          </a:p>
          <a:p>
            <a:pPr algn="l"/>
            <a:r>
              <a:rPr sz="869" b="0">
                <a:solidFill>
                  <a:srgbClr val="1E293B"/>
                </a:solidFill>
                <a:latin typeface="Calibri"/>
              </a:rPr>
              <a:t>Sensores / PT100 / desalinh. (40 h)</a:t>
            </a:r>
          </a:p>
          <a:p>
            <a:pPr algn="l"/>
            <a:r>
              <a:rPr sz="869" b="0">
                <a:solidFill>
                  <a:srgbClr val="1E293B"/>
                </a:solidFill>
                <a:latin typeface="Calibri"/>
              </a:rPr>
              <a:t>Emenda de cabos elétricos (36 h)</a:t>
            </a:r>
          </a:p>
          <a:p>
            <a:pPr algn="l"/>
            <a:r>
              <a:rPr sz="869" b="1">
                <a:solidFill>
                  <a:srgbClr val="2563EB"/>
                </a:solidFill>
                <a:latin typeface="Calibri"/>
              </a:rPr>
              <a:t>★ Passagem + emenda a quente da correia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" y="5833872"/>
            <a:ext cx="2084832" cy="292608"/>
          </a:xfrm>
          <a:prstGeom prst="roundRect">
            <a:avLst>
              <a:gd name="adj" fmla="val 18000"/>
            </a:avLst>
          </a:prstGeom>
          <a:solidFill>
            <a:srgbClr val="E9EFFD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5833872"/>
            <a:ext cx="208483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5A677C"/>
                </a:solidFill>
                <a:latin typeface="Calibri"/>
              </a:rPr>
              <a:t>LIBERAÇÃO  </a:t>
            </a:r>
            <a:r>
              <a:rPr sz="1100" b="1">
                <a:solidFill>
                  <a:srgbClr val="2563EB"/>
                </a:solidFill>
                <a:latin typeface="Calibri"/>
              </a:rPr>
              <a:t>Sáb 20/06  07:00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20340" y="4297680"/>
            <a:ext cx="230428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720340" y="4297680"/>
            <a:ext cx="2304288" cy="384048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20340" y="4489704"/>
            <a:ext cx="2304288" cy="19202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0068" y="4315968"/>
            <a:ext cx="212140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CT-04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0068" y="4718304"/>
            <a:ext cx="2121408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Correia de descarga (via Duto)</a:t>
            </a:r>
          </a:p>
          <a:p>
            <a:pPr algn="l"/>
            <a:r>
              <a:rPr sz="850" b="0">
                <a:solidFill>
                  <a:srgbClr val="5A677C"/>
                </a:solidFill>
                <a:latin typeface="Calibri"/>
              </a:rPr>
              <a:t>8 serviços · 30 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0068" y="5138928"/>
            <a:ext cx="210312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69" b="0">
                <a:solidFill>
                  <a:srgbClr val="1E293B"/>
                </a:solidFill>
                <a:latin typeface="Calibri"/>
              </a:rPr>
              <a:t>Corte + novo trecho 15 m (18 h)</a:t>
            </a:r>
          </a:p>
          <a:p>
            <a:pPr algn="l"/>
            <a:r>
              <a:rPr sz="869" b="0">
                <a:solidFill>
                  <a:srgbClr val="1E293B"/>
                </a:solidFill>
                <a:latin typeface="Calibri"/>
              </a:rPr>
              <a:t>Emborrachamento tambor retorno (10 h)</a:t>
            </a:r>
          </a:p>
          <a:p>
            <a:pPr algn="l"/>
            <a:r>
              <a:rPr sz="869" b="0">
                <a:solidFill>
                  <a:srgbClr val="1E293B"/>
                </a:solidFill>
                <a:latin typeface="Calibri"/>
              </a:rPr>
              <a:t>Chegada rolamentos / mancais (12 h)</a:t>
            </a:r>
          </a:p>
          <a:p>
            <a:pPr algn="l"/>
            <a:r>
              <a:rPr sz="869" b="1">
                <a:solidFill>
                  <a:srgbClr val="0D9488"/>
                </a:solidFill>
                <a:latin typeface="Calibri"/>
              </a:rPr>
              <a:t>★ Emenda de 15 m da correia (12 h)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30068" y="5833872"/>
            <a:ext cx="2084832" cy="292608"/>
          </a:xfrm>
          <a:prstGeom prst="roundRect">
            <a:avLst>
              <a:gd name="adj" fmla="val 18000"/>
            </a:avLst>
          </a:prstGeom>
          <a:solidFill>
            <a:srgbClr val="E6F4F3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0068" y="5833872"/>
            <a:ext cx="208483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5A677C"/>
                </a:solidFill>
                <a:latin typeface="Calibri"/>
              </a:rPr>
              <a:t>LIBERAÇÃO  </a:t>
            </a:r>
            <a:r>
              <a:rPr sz="1100" b="1">
                <a:solidFill>
                  <a:srgbClr val="0D9488"/>
                </a:solidFill>
                <a:latin typeface="Calibri"/>
              </a:rPr>
              <a:t>Qua 17/06  19:00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4297680"/>
            <a:ext cx="230428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120640" y="4297680"/>
            <a:ext cx="2304288" cy="384048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120640" y="4489704"/>
            <a:ext cx="2304288" cy="19202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0368" y="4315968"/>
            <a:ext cx="212140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EL-F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0368" y="4718304"/>
            <a:ext cx="2121408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Elevador de alimentação</a:t>
            </a:r>
          </a:p>
          <a:p>
            <a:pPr algn="l"/>
            <a:r>
              <a:rPr sz="850" b="0">
                <a:solidFill>
                  <a:srgbClr val="5A677C"/>
                </a:solidFill>
                <a:latin typeface="Calibri"/>
              </a:rPr>
              <a:t>2 serviços · 40 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30368" y="5138928"/>
            <a:ext cx="210312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69" b="0">
                <a:solidFill>
                  <a:srgbClr val="1E293B"/>
                </a:solidFill>
                <a:latin typeface="Calibri"/>
              </a:rPr>
              <a:t>Substituir 30 canecas (18 h)</a:t>
            </a:r>
          </a:p>
          <a:p>
            <a:pPr algn="l"/>
            <a:r>
              <a:rPr sz="869" b="1">
                <a:solidFill>
                  <a:srgbClr val="16A34A"/>
                </a:solidFill>
                <a:latin typeface="Calibri"/>
              </a:rPr>
              <a:t>★ Revestimento dutos – Rhynoride (36 h)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30368" y="5833872"/>
            <a:ext cx="2084832" cy="292608"/>
          </a:xfrm>
          <a:prstGeom prst="roundRect">
            <a:avLst>
              <a:gd name="adj" fmla="val 18000"/>
            </a:avLst>
          </a:prstGeom>
          <a:solidFill>
            <a:srgbClr val="E7F5EC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30368" y="5833872"/>
            <a:ext cx="208483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5A677C"/>
                </a:solidFill>
                <a:latin typeface="Calibri"/>
              </a:rPr>
              <a:t>LIBERAÇÃO  </a:t>
            </a:r>
            <a:r>
              <a:rPr sz="1100" b="1">
                <a:solidFill>
                  <a:srgbClr val="16A34A"/>
                </a:solidFill>
                <a:latin typeface="Calibri"/>
              </a:rPr>
              <a:t>Qui 18/06  11:00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20940" y="4297680"/>
            <a:ext cx="230428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520940" y="4297680"/>
            <a:ext cx="2304288" cy="384048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520940" y="4489704"/>
            <a:ext cx="2304288" cy="1920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30667" y="4315968"/>
            <a:ext cx="212140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Duto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0667" y="4718304"/>
            <a:ext cx="2121408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Transferência CT-03 → CT-04</a:t>
            </a:r>
          </a:p>
          <a:p>
            <a:pPr algn="l"/>
            <a:r>
              <a:rPr sz="850" b="0">
                <a:solidFill>
                  <a:srgbClr val="5A677C"/>
                </a:solidFill>
                <a:latin typeface="Calibri"/>
              </a:rPr>
              <a:t>1 serviço · 36 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0667" y="5138928"/>
            <a:ext cx="210312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69" b="1">
                <a:solidFill>
                  <a:srgbClr val="D97706"/>
                </a:solidFill>
                <a:latin typeface="Calibri"/>
              </a:rPr>
              <a:t>★ Duto da CT-03 para a CT-04 (36 h)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30667" y="5833872"/>
            <a:ext cx="2084832" cy="292608"/>
          </a:xfrm>
          <a:prstGeom prst="roundRect">
            <a:avLst>
              <a:gd name="adj" fmla="val 18000"/>
            </a:avLst>
          </a:prstGeom>
          <a:solidFill>
            <a:srgbClr val="FBF1E6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30667" y="5833872"/>
            <a:ext cx="208483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5A677C"/>
                </a:solidFill>
                <a:latin typeface="Calibri"/>
              </a:rPr>
              <a:t>LIBERAÇÃO  </a:t>
            </a:r>
            <a:r>
              <a:rPr sz="1100" b="1">
                <a:solidFill>
                  <a:srgbClr val="D97706"/>
                </a:solidFill>
                <a:latin typeface="Calibri"/>
              </a:rPr>
              <a:t>Sex 19/06  01:00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21240" y="4297680"/>
            <a:ext cx="230428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921240" y="4297680"/>
            <a:ext cx="2304288" cy="384048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921240" y="4489704"/>
            <a:ext cx="2304288" cy="1920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30967" y="4315968"/>
            <a:ext cx="212140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EL-E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30967" y="4718304"/>
            <a:ext cx="2121408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1E293B"/>
                </a:solidFill>
                <a:latin typeface="Calibri"/>
              </a:rPr>
              <a:t>Elevador de descarga</a:t>
            </a:r>
          </a:p>
          <a:p>
            <a:pPr algn="l"/>
            <a:r>
              <a:rPr sz="850" b="0">
                <a:solidFill>
                  <a:srgbClr val="5A677C"/>
                </a:solidFill>
                <a:latin typeface="Calibri"/>
              </a:rPr>
              <a:t>danificado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30967" y="5138928"/>
            <a:ext cx="210312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69" b="0">
                <a:solidFill>
                  <a:srgbClr val="1E293B"/>
                </a:solidFill>
                <a:latin typeface="Calibri"/>
              </a:rPr>
              <a:t>Danificado na ocorrência</a:t>
            </a:r>
          </a:p>
          <a:p>
            <a:pPr algn="l"/>
            <a:r>
              <a:rPr sz="869" b="0">
                <a:solidFill>
                  <a:srgbClr val="1E293B"/>
                </a:solidFill>
                <a:latin typeface="Calibri"/>
              </a:rPr>
              <a:t>NÃO requerido p/ a safra (milho)</a:t>
            </a:r>
          </a:p>
          <a:p>
            <a:pPr algn="l"/>
            <a:r>
              <a:rPr sz="869" b="1">
                <a:solidFill>
                  <a:srgbClr val="6B7280"/>
                </a:solidFill>
                <a:latin typeface="Calibri"/>
              </a:rPr>
              <a:t>✖ Fora do escopo — recuperar depois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030967" y="5833872"/>
            <a:ext cx="2084832" cy="292608"/>
          </a:xfrm>
          <a:prstGeom prst="roundRect">
            <a:avLst>
              <a:gd name="adj" fmla="val 18000"/>
            </a:avLst>
          </a:prstGeom>
          <a:solidFill>
            <a:srgbClr val="F0F0F2"/>
          </a:solidFill>
          <a:ln w="1524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30967" y="5833872"/>
            <a:ext cx="208483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5A677C"/>
                </a:solidFill>
                <a:latin typeface="Calibri"/>
              </a:rPr>
              <a:t>LIBERAÇÃO  </a:t>
            </a:r>
            <a:r>
              <a:rPr sz="1100" b="1">
                <a:solidFill>
                  <a:srgbClr val="6B7280"/>
                </a:solidFill>
                <a:latin typeface="Calibri"/>
              </a:rPr>
              <a:t>FORA DE ESCOPO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0040" y="6355080"/>
            <a:ext cx="11548872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6364224"/>
            <a:ext cx="5669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ALIMENTAÇÃO (EL-F→CT-03):  </a:t>
            </a:r>
            <a:r>
              <a:rPr sz="1100" b="1">
                <a:solidFill>
                  <a:srgbClr val="1E293B"/>
                </a:solidFill>
                <a:latin typeface="Calibri"/>
              </a:rPr>
              <a:t>Sáb 20/06 07:00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26480" y="6364224"/>
            <a:ext cx="5669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DESCARGA (Duto→CT-04):  </a:t>
            </a:r>
            <a:r>
              <a:rPr sz="1100" b="1">
                <a:solidFill>
                  <a:srgbClr val="1E293B"/>
                </a:solidFill>
                <a:latin typeface="Calibri"/>
              </a:rPr>
              <a:t>Sex 19/06 01:00  (EL-E fora da safra)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