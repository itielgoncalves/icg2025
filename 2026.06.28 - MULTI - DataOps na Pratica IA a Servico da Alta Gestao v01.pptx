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102A43"/>
                </a:solidFill>
              </a:rPr>
              <a:t>Alarmes por operador / hora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Alarmes por operador / hora</c:v>
                </c:pt>
              </c:strCache>
            </c:strRef>
          </c:tx>
          <c:dPt>
            <c:idx val="0"/>
            <c:spPr>
              <a:solidFill>
                <a:srgbClr val="169C52"/>
              </a:solidFill>
            </c:spPr>
          </c:dPt>
          <c:dPt>
            <c:idx val="1"/>
            <c:spPr>
              <a:solidFill>
                <a:srgbClr val="D93A3A"/>
              </a:solidFill>
            </c:spPr>
          </c:dPt>
          <c:dPt>
            <c:idx val="2"/>
            <c:spPr>
              <a:solidFill>
                <a:srgbClr val="169C52"/>
              </a:solidFill>
            </c:spPr>
          </c:dPt>
          <c:cat>
            <c:strRef>
              <c:f>Sheet1!$A$2:$A$4</c:f>
              <c:strCache>
                <c:ptCount val="3"/>
                <c:pt idx="0">
                  <c:v>Limite ISA-18.2
(maximo)</c:v>
                </c:pt>
                <c:pt idx="1">
                  <c:v>Media do setor
(hoje)</c:v>
                </c:pt>
                <c:pt idx="2">
                  <c:v>Meta Inpasa
no COI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30</c:v>
                </c:pt>
                <c:pt idx="2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1B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GESTAO ESTRATEGICA  ·  AUTOMACAO &amp;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DataOps na Pratica: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169C52"/>
                </a:solidFill>
                <a:latin typeface="Calibri"/>
              </a:rPr>
              <a:t>IA a Servico da Alta Gestao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611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CDDAE8"/>
                </a:solidFill>
                <a:latin typeface="Calibri"/>
              </a:rPr>
              <a:t>Evolucao da plataforma de automacao da Inpasa  —  </a:t>
            </a:r>
            <a:r>
              <a:rPr sz="1900" b="1" i="0">
                <a:solidFill>
                  <a:srgbClr val="2563EB"/>
                </a:solidFill>
                <a:latin typeface="Calibri"/>
              </a:rPr>
              <a:t>FactoryTalk Optix + DataMosaix</a:t>
            </a:r>
            <a:r>
              <a:rPr sz="1900" b="0" i="0">
                <a:solidFill>
                  <a:srgbClr val="CDDAE8"/>
                </a:solidFill>
                <a:latin typeface="Calibri"/>
              </a:rPr>
              <a:t>  vs.  </a:t>
            </a:r>
            <a:r>
              <a:rPr sz="1900" b="1" i="0">
                <a:solidFill>
                  <a:srgbClr val="F59E0B"/>
                </a:solidFill>
                <a:latin typeface="Calibri"/>
              </a:rPr>
              <a:t>PlantPAx + TracOS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709160"/>
            <a:ext cx="5852160" cy="19050"/>
          </a:xfrm>
          <a:prstGeom prst="rect">
            <a:avLst/>
          </a:prstGeom>
          <a:solidFill>
            <a:srgbClr val="355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920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27D98"/>
                </a:solidFill>
                <a:latin typeface="Calibri"/>
              </a:rPr>
              <a:t>Apresentado a: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Sr. Jose  e  Eder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27D98"/>
                </a:solidFill>
                <a:latin typeface="Calibri"/>
              </a:rPr>
              <a:t>Centro de Operacoes Integradas (COI)  ·  Benchmarking entre plantas  ·  Manutencao prescritiva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172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27D98"/>
                </a:solidFill>
                <a:latin typeface="Calibri"/>
              </a:rPr>
              <a:t>2026.06.28  ·  MULTI  ·  v01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Por que olhar para isso agora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334E68"/>
                </a:solidFill>
                <a:latin typeface="Calibri"/>
              </a:rPr>
              <a:t>A Inpasa cresceu de planta unica para uma </a:t>
            </a:r>
            <a:r>
              <a:rPr sz="1600" b="1" i="0">
                <a:solidFill>
                  <a:srgbClr val="102A43"/>
                </a:solidFill>
                <a:latin typeface="Calibri"/>
              </a:rPr>
              <a:t>operacao multi-unidades</a:t>
            </a:r>
            <a:r>
              <a:rPr sz="1600" b="0" i="0">
                <a:solidFill>
                  <a:srgbClr val="334E68"/>
                </a:solidFill>
                <a:latin typeface="Calibri"/>
              </a:rPr>
              <a:t> (Sinop, Lucas do Rio Verde, Dourados, Balsas e novas plantas). </a:t>
            </a:r>
            <a:r>
              <a:rPr sz="1600" b="1" i="0">
                <a:solidFill>
                  <a:srgbClr val="102A43"/>
                </a:solidFill>
                <a:latin typeface="Calibri"/>
              </a:rPr>
              <a:t>Os dados existem — mas vivem isolados dentro de cada planta.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2606040" cy="1097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563EB"/>
                </a:solidFill>
                <a:latin typeface="Calibri"/>
              </a:rPr>
              <a:t>Reuniao estrategica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Encontro Inpasa x Rockwell (26/06) sobre parceria de tecnologia e inovacao. Contato principal: Dan DeYoung.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514600"/>
            <a:ext cx="2606040" cy="1097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59E0B"/>
                </a:solidFill>
                <a:latin typeface="Calibri"/>
              </a:rPr>
              <a:t>Dados em silos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Cada unidade tem seu PlantPAx. Nao ha visao unica nem comparacao direta entre plantas.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2514600"/>
            <a:ext cx="2606040" cy="109728"/>
          </a:xfrm>
          <a:prstGeom prst="round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D93A3A"/>
                </a:solidFill>
                <a:latin typeface="Calibri"/>
              </a:rPr>
              <a:t>Decisao reativa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Manutencao corretiva/preventiva e alarmes acima da norma — ainda sem IA prescritiva.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514600"/>
            <a:ext cx="26060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0" y="2514600"/>
            <a:ext cx="2606040" cy="109728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8346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9C52"/>
                </a:solidFill>
                <a:latin typeface="Calibri"/>
              </a:rPr>
              <a:t>Janela de oportunidade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47472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Optix e DataMosaix amadureceram em 2026 (SCADA multi-site + Industrial DataOps).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02A43"/>
                </a:solidFill>
                <a:latin typeface="Calibri"/>
              </a:rPr>
              <a:t>Pergunta central:  </a:t>
            </a:r>
            <a:r>
              <a:rPr sz="1500" b="0" i="1">
                <a:solidFill>
                  <a:srgbClr val="334E68"/>
                </a:solidFill>
                <a:latin typeface="Calibri"/>
              </a:rPr>
              <a:t>como transformar o dado que ja geramos em decisao executiva, comparavel entre plantas e antecipada por IA?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CENARIO 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O que a Inpasa ja tem hoje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525780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PlantPAx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supervisorio por planta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DCS/SCADA Rockwell </a:t>
            </a:r>
            <a:r>
              <a:rPr sz="1350">
                <a:solidFill>
                  <a:srgbClr val="334E68"/>
                </a:solidFill>
                <a:latin typeface="Calibri"/>
              </a:rPr>
              <a:t>rodando em cada unidade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Blocos de processo </a:t>
            </a:r>
            <a:r>
              <a:rPr sz="1350">
                <a:solidFill>
                  <a:srgbClr val="334E68"/>
                </a:solidFill>
                <a:latin typeface="Calibri"/>
              </a:rPr>
              <a:t>P_PID, P_VALVE, P_INTLK, Command Source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Dados nativos </a:t>
            </a:r>
            <a:r>
              <a:rPr sz="1350">
                <a:solidFill>
                  <a:srgbClr val="334E68"/>
                </a:solidFill>
                <a:latin typeface="Calibri"/>
              </a:rPr>
              <a:t>modo Auto/Manual, Operador/Programa, interlocks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F59E0B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Alarmes &amp; Events </a:t>
            </a:r>
            <a:r>
              <a:rPr sz="1350">
                <a:solidFill>
                  <a:srgbClr val="334E68"/>
                </a:solidFill>
                <a:latin typeface="Calibri"/>
              </a:rPr>
              <a:t>alarmes nao reconhecidos ja rastreados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2578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554480"/>
            <a:ext cx="5257800" cy="640080"/>
          </a:xfrm>
          <a:prstGeom prst="roundRect">
            <a:avLst/>
          </a:prstGeom>
          <a:solidFill>
            <a:srgbClr val="33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733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TracOS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gestao de manutencao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23160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Ordens de servico </a:t>
            </a:r>
            <a:r>
              <a:rPr sz="1350">
                <a:solidFill>
                  <a:srgbClr val="334E68"/>
                </a:solidFill>
                <a:latin typeface="Calibri"/>
              </a:rPr>
              <a:t>e controle de ativos por unidade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Historico de manutencao </a:t>
            </a:r>
            <a:r>
              <a:rPr sz="1350">
                <a:solidFill>
                  <a:srgbClr val="334E68"/>
                </a:solidFill>
                <a:latin typeface="Calibri"/>
              </a:rPr>
              <a:t>corretiva e preventiva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Planejamento </a:t>
            </a:r>
            <a:r>
              <a:rPr sz="1350">
                <a:solidFill>
                  <a:srgbClr val="334E68"/>
                </a:solidFill>
                <a:latin typeface="Calibri"/>
              </a:rPr>
              <a:t>de paradas e equipes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34E68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Base solida </a:t>
            </a:r>
            <a:r>
              <a:rPr sz="1350">
                <a:solidFill>
                  <a:srgbClr val="334E68"/>
                </a:solidFill>
                <a:latin typeface="Calibri"/>
              </a:rPr>
              <a:t>— porem desconectada do dado de processo em tempo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02A43"/>
                </a:solidFill>
                <a:latin typeface="Calibri"/>
              </a:rPr>
              <a:t>Resumo:  </a:t>
            </a:r>
            <a:r>
              <a:rPr sz="1450" b="0" i="0">
                <a:solidFill>
                  <a:srgbClr val="334E68"/>
                </a:solidFill>
                <a:latin typeface="Calibri"/>
              </a:rPr>
              <a:t>temos dados ricos e uma base Rockwell robusta. O que falta nao e coletar — e </a:t>
            </a:r>
            <a:r>
              <a:rPr sz="1450" b="1" i="0">
                <a:solidFill>
                  <a:srgbClr val="102A43"/>
                </a:solidFill>
                <a:latin typeface="Calibri"/>
              </a:rPr>
              <a:t>contextualizar, comparar entre plantas e antecipar com 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93A3A"/>
                </a:solidFill>
                <a:latin typeface="Calibri"/>
              </a:rPr>
              <a:t>DIAGNOSTICO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As 4 lacunas que travam a decisao executiva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82880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5623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Silos por planta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51460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O dado fica preso em cada PlantPAx. Nao existe uma visao unica nem ranking entre unidades.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55448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182880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5623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Sem benchmarking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51460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Impossivel comparar OEE, malhas em auto e alarmes entre Sinop, LRV, Dourados e Balsas de forma direta.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2336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429768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32511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Manutencao reativa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98348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Agimos depois da falha. Sem analise de causa raiz automatizada nem recomendacao prescritiva.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02336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4297680"/>
            <a:ext cx="502920" cy="502920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325112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02A43"/>
                </a:solidFill>
                <a:latin typeface="Calibri"/>
              </a:rPr>
              <a:t>Excesso de alarmes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4983480"/>
            <a:ext cx="46725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Media do setor: 30+ alarmes/operador/hora (5x acima da ISA-18.2); ~70% sao nuisance alarms.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50292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VISAO DE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Do sensor a diretoria: as 4 camadas do dado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371600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169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371600"/>
            <a:ext cx="914400" cy="1078992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536192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DECISAO  ·  COI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938528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Dashboards unicos, benchmarking entre plantas, alertas e ranking em tempo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596896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2596896"/>
            <a:ext cx="914400" cy="107899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96896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761488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EXECUCAO INTELIGENTE  ·  FactoryTalk Optix + ResilientEdge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163824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HMI/SCADA multi-site, edge resiliente, loop fechado com IA, acesso remoto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822192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822192"/>
            <a:ext cx="914400" cy="107899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22192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986784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DataOps + IA  ·  FactoryTalk DataMosaix + Atlas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389120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Contextualiza OT/IT/ET, RCA automatizada, agentes no-code, prescritivo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047488"/>
            <a:ext cx="9326880" cy="1078992"/>
          </a:xfrm>
          <a:prstGeom prst="roundRect">
            <a:avLst/>
          </a:prstGeom>
          <a:solidFill>
            <a:srgbClr val="17334E"/>
          </a:solidFill>
          <a:ln w="19050">
            <a:solidFill>
              <a:srgbClr val="334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5840" y="5047488"/>
            <a:ext cx="914400" cy="1078992"/>
          </a:xfrm>
          <a:prstGeom prst="roundRect">
            <a:avLst/>
          </a:prstGeom>
          <a:solidFill>
            <a:srgbClr val="33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047488"/>
            <a:ext cx="91440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212080"/>
            <a:ext cx="7955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EDGE / OT  ·  PlantPAx + sensores (o que ja temos)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614416"/>
            <a:ext cx="7955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B9CADB"/>
                </a:solidFill>
                <a:latin typeface="Calibri"/>
              </a:rPr>
              <a:t>Controladores, blocos de processo, alarmes, dados em tempo real por planta</a:t>
            </a:r>
          </a:p>
        </p:txBody>
      </p:sp>
      <p:sp>
        <p:nvSpPr>
          <p:cNvPr id="26" name="Up Arrow 25"/>
          <p:cNvSpPr/>
          <p:nvPr/>
        </p:nvSpPr>
        <p:spPr>
          <a:xfrm>
            <a:off x="10561320" y="1371600"/>
            <a:ext cx="640080" cy="4754880"/>
          </a:xfrm>
          <a:prstGeom prst="upArrow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61722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69C52"/>
                </a:solidFill>
                <a:latin typeface="Calibri"/>
              </a:rPr>
              <a:t>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CAMADA DE EXECUCAO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FactoryTalk Optix + ResilientEdge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334E68"/>
                </a:solidFill>
                <a:latin typeface="Calibri"/>
              </a:rPr>
              <a:t>De HMI para a </a:t>
            </a:r>
            <a:r>
              <a:rPr sz="1600" b="1" i="0">
                <a:solidFill>
                  <a:srgbClr val="2563EB"/>
                </a:solidFill>
                <a:latin typeface="Calibri"/>
              </a:rPr>
              <a:t>base de execucao inteligente</a:t>
            </a:r>
            <a:r>
              <a:rPr sz="1600" b="0" i="0">
                <a:solidFill>
                  <a:srgbClr val="334E68"/>
                </a:solidFill>
                <a:latin typeface="Calibri"/>
              </a:rPr>
              <a:t> da Rockwell: HMI/SCADA cloud-enabled, projetada e implantada pelo navegador.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3317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SCADA multi-site (2026)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80720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Centraliza o supervisorio de todas as plantas em uma plataforma, com redundancia de servidor e workstation clients.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488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14884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317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ResilientEdge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80720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Execucao edge resiliente + analytics em nuvem, treino de IA e orquestracao corporativa. Disponivel global desde 18/06/2026.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233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2336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206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Acesso remoto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68172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FactoryTalk Remote Access via VPN: investigar e resolver antes de viajar a planta remota.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0233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02336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206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44A8"/>
                </a:solidFill>
                <a:latin typeface="Calibri"/>
              </a:rPr>
              <a:t>Aberto / OPC UA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68172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Comunica nativamente com controladores Rockwell e de terceiros; roda em qualquer hardware.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Para a Inpasa: o caminho natural do COI centralizado multi-planta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CAMADA DE DATAOPS +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FactoryTalk DataMosaix + Atlas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Industrial DataOps do edge a nuvem: </a:t>
            </a:r>
            <a:r>
              <a:rPr sz="1600" b="0" i="0">
                <a:solidFill>
                  <a:srgbClr val="334E68"/>
                </a:solidFill>
                <a:latin typeface="Calibri"/>
              </a:rPr>
              <a:t>contextualiza dados de operacao, engenharia e TI para casos de uso de 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91440" cy="1600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3317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RCA automatizada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80720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Analise de causa raiz sem precisar de um analista de dados dedicado.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4884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148840"/>
            <a:ext cx="91440" cy="1600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3317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Agentes de IA contextuais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80720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Monitoram variaveis de processo e geram alertas — exatamente o que o Hub de Automacao esta construindo.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233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23360"/>
            <a:ext cx="91440" cy="1600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206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Manutencao prescritiva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68172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Detecta desgaste precoce e recomenda a acao antes da parada custosa.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0233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023360"/>
            <a:ext cx="91440" cy="1600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2062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47105"/>
                </a:solidFill>
                <a:latin typeface="Calibri"/>
              </a:rPr>
              <a:t>No-code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681728"/>
            <a:ext cx="4709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Maicon e equipe criam fluxos e agentes seguros sem programar.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B471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Para a Inpasa: integra OT + IT + ET e elimina silos entre as plantas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COMPARATIVO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Hoje (PlantPAx + TracOS)  vs.  Proposto (Optix + DataMosaix)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2743200" cy="512064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Capacidade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554480"/>
            <a:ext cx="3657600" cy="512064"/>
          </a:xfrm>
          <a:prstGeom prst="rect">
            <a:avLst/>
          </a:prstGeom>
          <a:solidFill>
            <a:srgbClr val="D93A3A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Hoje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554480"/>
            <a:ext cx="4206240" cy="512064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Com Optix + DataMosaix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066544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Supervisorio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066544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Por planta, isolado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2066544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Multi-site centralizado (SCADA Optix)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78608"/>
            <a:ext cx="27432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Visao entre plantas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578608"/>
            <a:ext cx="36576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Inexistente / manual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578608"/>
            <a:ext cx="420624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Dashboards unicos e comparaveis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090672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Manutencao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3090672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Corretiva / preventiva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3090672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Preditiva e prescritiva (IA)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602736"/>
            <a:ext cx="27432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Causa raiz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602736"/>
            <a:ext cx="36576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Investigacao manual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3602736"/>
            <a:ext cx="420624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RCA automatizada por agente de 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4800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Alarmes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4114800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Acima da ISA-18.2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4114800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Benchmarking e reducao de nuisance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626864"/>
            <a:ext cx="27432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Acesso remoto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4626864"/>
            <a:ext cx="365760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Limitado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4626864"/>
            <a:ext cx="4206240" cy="512064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Remote Access via VPN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38928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1">
                <a:solidFill>
                  <a:srgbClr val="102A43"/>
                </a:solidFill>
                <a:latin typeface="Calibri"/>
              </a:rPr>
              <a:t>IT / OT / 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5138928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334E68"/>
                </a:solidFill>
                <a:latin typeface="Calibri"/>
              </a:rPr>
              <a:t>Silos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5138928"/>
            <a:ext cx="4206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l"/>
            <a:r>
              <a:rPr sz="1300" b="0">
                <a:solidFill>
                  <a:srgbClr val="0E6B37"/>
                </a:solidFill>
                <a:latin typeface="Calibri"/>
              </a:rPr>
              <a:t>Convergencia em plataforma unica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D93A3A"/>
                </a:solidFill>
                <a:latin typeface="Calibri"/>
              </a:rPr>
              <a:t>BENCHMARKING DE ALARMES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A norma ISA-18.2 e a oportunidade imediata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55448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03720" y="16916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D93A3A"/>
                </a:solidFill>
                <a:latin typeface="Calibri"/>
              </a:rPr>
              <a:t>5x acima do recomendado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42316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>
                <a:solidFill>
                  <a:srgbClr val="334E68"/>
                </a:solidFill>
                <a:latin typeface="Calibri"/>
              </a:rPr>
              <a:t>Planta bem gerenciada: &lt; 6 alarmes/operador/hora em operacao normal.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>
                <a:solidFill>
                  <a:srgbClr val="334E68"/>
                </a:solidFill>
                <a:latin typeface="Calibri"/>
              </a:rPr>
              <a:t>Media das plantas: 30+ por operador/hora — cinco vezes o maximo.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>
                <a:solidFill>
                  <a:srgbClr val="334E68"/>
                </a:solidFill>
                <a:latin typeface="Calibri"/>
              </a:rPr>
              <a:t>~70% dos alarmes em DCS/SCADA tipicos sao nuisance (nao exigem acao).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D93A3A"/>
                </a:solidFill>
                <a:latin typeface="Calibri"/>
              </a:rPr>
              <a:t>▪  </a:t>
            </a:r>
            <a:r>
              <a:rPr sz="1350" b="1">
                <a:solidFill>
                  <a:srgbClr val="102A43"/>
                </a:solidFill>
                <a:latin typeface="Calibri"/>
              </a:rPr>
              <a:t>FT VantagePoint </a:t>
            </a:r>
            <a:r>
              <a:rPr sz="1350">
                <a:solidFill>
                  <a:srgbClr val="334E68"/>
                </a:solidFill>
                <a:latin typeface="Calibri"/>
              </a:rPr>
              <a:t>identifica nuisance alarms, bad actors e alarm floods — sobre o PlantPAx que ja temos.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INDICADORES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KPIs de benchmarking que o ecossistema ja mede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81328"/>
            <a:ext cx="393192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481328"/>
            <a:ext cx="393192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Ferramenta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1481328"/>
            <a:ext cx="274320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Disponivel hoje?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Alarmes por operador/hora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9385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FT VantagePoint + DataMosaix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19385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Sim — com PlantPAx atual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Alarmes nao reconhecidos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3957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FT Alarms &amp;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2395728"/>
            <a:ext cx="274320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Nativo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529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Controles em Auto / Manual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8529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PlantPAx P_PID, P_VALVE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28529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Dado ja no controlador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101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Blocos Operador / Programa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33101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PlantPAx Command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3310128"/>
            <a:ext cx="274320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Campo nativo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7673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Interlocks desabilitados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37673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PlantPAx P_Gate + P_INTLK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41080" y="37673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Rastreavel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2245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Variaveis simuladas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4224528"/>
            <a:ext cx="393192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Tag audit via Studio 5000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4224528"/>
            <a:ext cx="2743200" cy="457200"/>
          </a:xfrm>
          <a:prstGeom prst="rect">
            <a:avLst/>
          </a:prstGeom>
          <a:solidFill>
            <a:srgbClr val="ECF2F7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Possivel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6817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102A43"/>
                </a:solidFill>
                <a:latin typeface="Calibri"/>
              </a:rPr>
              <a:t>Bad actors / nuisance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4681728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FT VantagePoint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468172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0">
                <a:solidFill>
                  <a:srgbClr val="334E68"/>
                </a:solidFill>
                <a:latin typeface="Calibri"/>
              </a:rPr>
              <a:t>Sim — com PlantPAx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138928"/>
            <a:ext cx="3931920" cy="457200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Benchmarking entre plantas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5138928"/>
            <a:ext cx="3931920" cy="457200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DataMosaix (multi-site)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1080" y="5138928"/>
            <a:ext cx="2743200" cy="457200"/>
          </a:xfrm>
          <a:prstGeom prst="rect">
            <a:avLst/>
          </a:prstGeom>
          <a:solidFill>
            <a:srgbClr val="169C52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Novidade que entra agora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627D98"/>
                </a:solidFill>
                <a:latin typeface="Calibri"/>
              </a:rPr>
              <a:t>Quase tudo ja existe no dado atual — falta a camada que agrega e compara: o DataMosaix.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128016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O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O que o DataMosaix adiciona ao que ja temos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8D6E4"/>
                </a:solidFill>
                <a:latin typeface="Calibri"/>
              </a:rPr>
              <a:t>Hoje o dado vive dentro de cada PlantPAx. O DataMosaix e a camada que </a:t>
            </a:r>
            <a:r>
              <a:rPr sz="1550" b="1" i="0">
                <a:solidFill>
                  <a:srgbClr val="F59E0B"/>
                </a:solidFill>
                <a:latin typeface="Calibri"/>
              </a:rPr>
              <a:t>agrega, contextualiza e compara</a:t>
            </a:r>
            <a:r>
              <a:rPr sz="1550" b="0" i="0">
                <a:solidFill>
                  <a:srgbClr val="C8D6E4"/>
                </a:solidFill>
                <a:latin typeface="Calibri"/>
              </a:rPr>
              <a:t> — uma visao unica de toda a operacao.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OEE comparavel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9CADB"/>
                </a:solidFill>
                <a:latin typeface="Calibri"/>
              </a:rPr>
              <a:t>Por planta, linha e regiao — em um unico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6060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Planejamento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42900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9CADB"/>
                </a:solidFill>
                <a:latin typeface="Calibri"/>
              </a:rPr>
              <a:t>Decisao de producao em nivel corporativo, nao por silo.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6060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Visao multi-site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2900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9CADB"/>
                </a:solidFill>
                <a:latin typeface="Calibri"/>
              </a:rPr>
              <a:t>Sinop, LRV, Dourados, Balsas e novas plantas lado a lado.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240280"/>
            <a:ext cx="2606040" cy="2651760"/>
          </a:xfrm>
          <a:prstGeom prst="roundRect">
            <a:avLst/>
          </a:prstGeom>
          <a:solidFill>
            <a:srgbClr val="17334E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2240280"/>
            <a:ext cx="2606040" cy="914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60604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Contexto OT+IT+ET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42900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9CADB"/>
                </a:solidFill>
                <a:latin typeface="Calibri"/>
              </a:rPr>
              <a:t>Dado de processo + manutencao + negocio juntos.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APLICACAO DIRETA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Como isso aparece no COI da Inpasa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18745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2024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Tela unica em tempo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651760"/>
            <a:ext cx="4672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% de malhas em automatico por planta, lado a lado, atualizado ao vivo.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29400" y="18745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92024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Ranking de plantas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651760"/>
            <a:ext cx="4672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Por indice de alarmes/operador/hora — quem esta dentro e fora da ISA-18.2.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2336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" y="429768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34340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Alertas automaticos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5074920"/>
            <a:ext cx="4672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Disparo quando uma planta cruza o limite de 6 alarmes/hora.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023360"/>
            <a:ext cx="5257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29768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343400"/>
            <a:ext cx="3931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Comparativo historico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5074920"/>
            <a:ext cx="46725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E68"/>
                </a:solidFill>
                <a:latin typeface="Calibri"/>
              </a:rPr>
              <a:t>Identifica qual planta regrediu apos parada ou troca de turno.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563EB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Como entra — em fases, comecando pelo ganho rapido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4290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9C52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3429000" cy="868680"/>
          </a:xfrm>
          <a:prstGeom prst="round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Fase 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Ganho rapido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34640"/>
            <a:ext cx="284378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Benchmarking de alarmes (VantagePoint) e KPIs sobre o PlantPAx atual. Valor imediato, sem trocar base.</a:t>
            </a:r>
          </a:p>
        </p:txBody>
      </p:sp>
      <p:sp>
        <p:nvSpPr>
          <p:cNvPr id="11" name="Chevron 10"/>
          <p:cNvSpPr/>
          <p:nvPr/>
        </p:nvSpPr>
        <p:spPr>
          <a:xfrm>
            <a:off x="4160520" y="2971800"/>
            <a:ext cx="365760" cy="365760"/>
          </a:xfrm>
          <a:prstGeom prst="chevron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70832" y="1737360"/>
            <a:ext cx="34290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0832" y="1737360"/>
            <a:ext cx="3429000" cy="8686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Fase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Preditivo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284378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DataMosaix agrega plantas, dashboards comparativos e deteccao precoce de desgaste.</a:t>
            </a:r>
          </a:p>
        </p:txBody>
      </p:sp>
      <p:sp>
        <p:nvSpPr>
          <p:cNvPr id="16" name="Chevron 15"/>
          <p:cNvSpPr/>
          <p:nvPr/>
        </p:nvSpPr>
        <p:spPr>
          <a:xfrm>
            <a:off x="7754112" y="2971800"/>
            <a:ext cx="365760" cy="365760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64424" y="1737360"/>
            <a:ext cx="34290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64424" y="1737360"/>
            <a:ext cx="3429000" cy="868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Fase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Prescritivo + COI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834640"/>
            <a:ext cx="284378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334E68"/>
                </a:solidFill>
                <a:latin typeface="Calibri"/>
              </a:rPr>
              <a:t>Optix SCADA multi-site + agentes de IA prescritivos alimentando o COI centralizado.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98348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ResilientEdge: disponivel global desde 18/06/2026  ·  SCADA multi-site em rollout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2794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28016" cy="566928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69C52"/>
                </a:solidFill>
                <a:latin typeface="Calibri"/>
              </a:rPr>
              <a:t>DECISAO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02A43"/>
                </a:solidFill>
                <a:latin typeface="Calibri"/>
              </a:rPr>
              <a:t>O que pedimos para avancar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856232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4650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02A43"/>
                </a:solidFill>
                <a:latin typeface="Calibri"/>
              </a:rPr>
              <a:t>Aprovar piloto de Fase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67128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Benchmarking de alarmes (ISA-18.2) sobre o PlantPAx atual, em 1-2 plantas, como prova de valor.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15768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2971800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862072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02A43"/>
                </a:solidFill>
                <a:latin typeface="Calibri"/>
              </a:rPr>
              <a:t>Definir plantas-piloto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282696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Sugestao: Sinop + uma unidade nova, para comparar maturidades.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31336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4087368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97764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02A43"/>
                </a:solidFill>
                <a:latin typeface="Calibri"/>
              </a:rPr>
              <a:t>Validar interlocutores Rockwell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398264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Confirmar nomes/cargos dos apresentadores de Optix e DataMosaix (contato: Dan DeYoung).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46904"/>
            <a:ext cx="1060704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  <a:effectLst/>
          <a:effectLst>
            <a:outerShdw blurRad="90000" dist="40000" dir="5400000" rotWithShape="0">
              <a:srgbClr val="1B2A3A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5202936"/>
            <a:ext cx="502920" cy="502920"/>
          </a:xfrm>
          <a:prstGeom prst="ellipse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093208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102A43"/>
                </a:solidFill>
                <a:latin typeface="Calibri"/>
              </a:rPr>
              <a:t>Designar squad interno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513832"/>
            <a:ext cx="9326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E68"/>
                </a:solidFill>
                <a:latin typeface="Calibri"/>
              </a:rPr>
              <a:t>Maicon e equipe do Hub de Automacao conduzindo os fluxos no-code do DataMosaix.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27D98"/>
                </a:solidFill>
                <a:latin typeface="Calibri"/>
              </a:rPr>
              <a:t>Inpasa  ·  Gestao Estrategica de Automacao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9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 dado ja existe.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69C52"/>
                </a:solidFill>
                <a:latin typeface="Calibri"/>
              </a:rPr>
              <a:t>Falta transforma-lo em decisao.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4023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DDAE8"/>
                </a:solidFill>
                <a:latin typeface="Calibri"/>
              </a:rPr>
              <a:t>Optix + DataMosaix conectam o que a Inpasa ja tem (PlantPAx + TracOS) a um COI unico,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DDAE8"/>
                </a:solidFill>
                <a:latin typeface="Calibri"/>
              </a:rPr>
              <a:t>com benchmarking entre plantas e IA prescritiva — comecando pelo ganho rapido.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5212080"/>
            <a:ext cx="5029200" cy="19050"/>
          </a:xfrm>
          <a:prstGeom prst="rect">
            <a:avLst/>
          </a:prstGeom>
          <a:solidFill>
            <a:srgbClr val="355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394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Gestao Estrategica de Automacao  ·  Inpasa  ·  2026.06.28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