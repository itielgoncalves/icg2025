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2F9E44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8473B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AUTO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2F9E44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2B033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PROGRAMA</c:v>
                </c:pt>
                <c:pt idx="1">
                  <c:v>OPERADOR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2F9E44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8473B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AUTO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</c:v>
                </c:pt>
                <c:pt idx="1">
                  <c:v>13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2F9E44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2B033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PROGRAMA</c:v>
                </c:pt>
                <c:pt idx="1">
                  <c:v>OPERADOR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dia a todos. Em nome da Inpasa, agradeço a recepção. Nos próximos minutos quero compartilhar não uma lista de tecnologias, mas a visão que está guiando o avanço da automação na Inpasa — onde estamos hoje, de forma medida, e para onde estamos indo. É essa visão que queremos construir junto com nossos parceiros.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nossa tese é simples. Por muito tempo, automação significou controlar a planta — manter as variáveis no setpoint. Hoje, o salto que perseguimos é outro: enxergar e governar o estado da planta em tempo real. O operador deixa de ser quem atua o tempo todo e passa a ser o vigia; o sistema opera e, tão importante quanto, audita a si mesmo. Tudo se apoia em três pilares: controle, gestão de alarmes e manutenção preditiva.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não falo de aspiração — falo de dado. Este é o estado real das nossas malhas de controle nos últimos 15 dias. 94% das malhas de utilidades e 87% das de processo operando em automático. Mas o mais importante não é só o número alto: é que hoje enxergamos cada exceção — cada malha em manual, cada interlock em bypass, cada variável em modo operador. O que antes era invisível agora é medido e auditado. Isso é governança de automação. (Se perguntarem do método: o estado é o visto pela HMI; mudanças por lógica de PLC ainda não são auditadas — transparência reforça credibilidade.)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Demos um passo além do controle: a gestão de ativos. Iniciamos em Dourados um piloto que monitora equipamentos em simulação, identifica ativos inoperantes e equipamentos fora de operação, e audita quem fez o quê e por quanto tempo. Pela primeira vez temos visibilidade de quanto tempo um ativo permanece simulado — uma métrica de disciplina operacional que não tínhamos. O plano é validar em Dourados e padronizar para todo o Grupo Inpasa.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 caminho nos leva ao conceito que chamamos de operação observatória. O operador supervisiona; o sistema opera. E vamos além: as próprias malhas de controle viram sensores de saúde — desvios no comportamento de uma malha antecipam uma falha antes que ela vire um evento. É a manutenção preditiva nascendo de dentro do próprio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Nada disso se sustenta sem dados confiáveis e organizados. Estamos estruturando a arquitetura de dados operacionais da Inpasa — coleta, historiação e análise — com varredura automática dos controladores para padronizar a informação. Isso nos abre algo poderoso: comparar plantas entre si, o benchmarking interno. Saber qual unidade opera melhor, e por quê, e levar essa melhor prática para as demais.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 a base de dados pronta, a inteligência artificial entra onde ela realmente gera valor: controle avançado que se adapta ao processo, predição de resultados e recomendações para o operador. E na manutenção, saímos do ciclo caro de corretiva e preventiva para a preditiva de verdade — agir antes da falha, preservando ativo e produção. Menos paradas, mais confiabilidade.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Tudo converge para o Centro de Operações Integrado. A visão é um COI robusto e escalável, que integre as unidades do Grupo numa só sala de inteligência — inspirado em modelos já consolidados em outras indústrias de grande porte, como a mineração. Mais do que centralizar telas, é centralizar decisão: autonomia operacional, otimização de mão de obra especializada e uma visão única do Grupo Inpasa.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caminho é incremental e já está em movimento: hoje, malhas medidas e o piloto de Dourados; a seguir, padronização de dados e gestão de ativos em todo o Grupo; depois, IA aplicada ao controle e à manutenção preditiva; e, como destino, o COI e a operação autônoma.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Encerro com uma mensagem clara: a Inpasa sabe aonde quer chegar, e tem dado os passos com método e medição. O que buscamos em nossos parceiros é quem nos ajude a acelerar essa visão — com tecnologia robusta, escalável e que respeite a jornada que já construímos. Conto com vocês nessa caminhada.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371600"/>
            <a:ext cx="822960" cy="822960"/>
          </a:xfrm>
          <a:prstGeom prst="ellipse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22A4A"/>
                </a:solidFill>
                <a:latin typeface="Calibri"/>
              </a:rPr>
              <a:t>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Avanço da Automação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2A033"/>
                </a:solidFill>
                <a:latin typeface="Calibri"/>
              </a:rPr>
              <a:t>na Inpasa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892040"/>
            <a:ext cx="2926080" cy="45720"/>
          </a:xfrm>
          <a:prstGeom prst="rect">
            <a:avLst/>
          </a:prstGeom>
          <a:solidFill>
            <a:srgbClr val="3E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1">
                <a:solidFill>
                  <a:srgbClr val="F4F6F9"/>
                </a:solidFill>
                <a:latin typeface="Calibri"/>
              </a:rPr>
              <a:t>De controlar a planta a governar a planta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EB9C8"/>
                </a:solidFill>
                <a:latin typeface="Calibri"/>
              </a:rPr>
              <a:t>Apresentação institucional  ·  Liderança e Parceiros de Automação Industrial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20624"/>
          </a:xfrm>
          <a:prstGeom prst="rect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48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Calibri"/>
              </a:rPr>
              <a:t>A VIRADA DE CHAVE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2A4A"/>
                </a:solidFill>
                <a:latin typeface="Calibri"/>
              </a:rPr>
              <a:t>Automação deixou de ser controlar a planta.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8132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2A4A"/>
                </a:solidFill>
                <a:latin typeface="Calibri"/>
              </a:rPr>
              <a:t>Passou a </a:t>
            </a:r>
            <a:r>
              <a:rPr sz="3000" b="1" i="0">
                <a:solidFill>
                  <a:srgbClr val="F2A033"/>
                </a:solidFill>
                <a:latin typeface="Calibri"/>
              </a:rPr>
              <a:t>enxergar e governar</a:t>
            </a:r>
            <a:r>
              <a:rPr sz="3000" b="1" i="0">
                <a:solidFill>
                  <a:srgbClr val="122A4A"/>
                </a:solidFill>
                <a:latin typeface="Calibri"/>
              </a:rPr>
              <a:t> o estado dela em tempo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6974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B7F"/>
                </a:solidFill>
                <a:latin typeface="Calibri"/>
              </a:rPr>
              <a:t>O operador deixa de atuar o tempo todo e passa a ser o </a:t>
            </a:r>
            <a:r>
              <a:rPr sz="1600" b="1" i="0">
                <a:solidFill>
                  <a:srgbClr val="1F5CA8"/>
                </a:solidFill>
                <a:latin typeface="Calibri"/>
              </a:rPr>
              <a:t>vigia</a:t>
            </a:r>
            <a:r>
              <a:rPr sz="1600" b="0" i="0">
                <a:solidFill>
                  <a:srgbClr val="5B6B7F"/>
                </a:solidFill>
                <a:latin typeface="Calibri"/>
              </a:rPr>
              <a:t>. O sistema opera — e audita a si mesmo.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749039"/>
            <a:ext cx="345643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3749039"/>
            <a:ext cx="3456432" cy="146304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4114800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F9E44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4526280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22A4A"/>
                </a:solidFill>
                <a:latin typeface="Calibri"/>
              </a:rPr>
              <a:t>Controle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5029200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B7F"/>
                </a:solidFill>
                <a:latin typeface="Calibri"/>
              </a:rPr>
              <a:t>Malhas estáveis, automáticas e auditadas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7136" y="3749039"/>
            <a:ext cx="345643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7136" y="3749039"/>
            <a:ext cx="3456432" cy="14630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4114800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5CA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4526280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22A4A"/>
                </a:solidFill>
                <a:latin typeface="Calibri"/>
              </a:rPr>
              <a:t>Gestão de Alarmes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5029200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B7F"/>
                </a:solidFill>
                <a:latin typeface="Calibri"/>
              </a:rPr>
              <a:t>Foco no que exige ação do operador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4464" y="3749039"/>
            <a:ext cx="345643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3749039"/>
            <a:ext cx="3456432" cy="146304"/>
          </a:xfrm>
          <a:prstGeom prst="rect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4114800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2A033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4526280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22A4A"/>
                </a:solidFill>
                <a:latin typeface="Calibri"/>
              </a:rPr>
              <a:t>Manutenção Preditiva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029200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B7F"/>
                </a:solidFill>
                <a:latin typeface="Calibri"/>
              </a:rPr>
              <a:t>Agir antes da falha, preservando ativos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INPASA  ·  Avanço da Automação — Visão e Jornada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2A033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20624"/>
          </a:xfrm>
          <a:prstGeom prst="rect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48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Calibri"/>
              </a:rPr>
              <a:t>ONDE ESTAMOS HOJE  ·  EVIDÊNCIA MEDIDA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22A4A"/>
                </a:solidFill>
                <a:latin typeface="Calibri"/>
              </a:rPr>
              <a:t>Estado das malhas de controle — últimos 15 dias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247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2A4A"/>
                </a:solidFill>
                <a:latin typeface="Calibri"/>
              </a:rPr>
              <a:t>MALHAS DE UTILIDADES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09928"/>
            <a:ext cx="1787652" cy="84124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787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95144"/>
            <a:ext cx="17876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AUTO</a:t>
            </a:r>
          </a:p>
        </p:txBody>
      </p:sp>
      <p:sp>
        <p:nvSpPr>
          <p:cNvPr id="9" name="Rectangle 8"/>
          <p:cNvSpPr/>
          <p:nvPr/>
        </p:nvSpPr>
        <p:spPr>
          <a:xfrm>
            <a:off x="2400300" y="1709928"/>
            <a:ext cx="1787652" cy="841248"/>
          </a:xfrm>
          <a:prstGeom prst="rect">
            <a:avLst/>
          </a:prstGeom>
          <a:solidFill>
            <a:srgbClr val="C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0300" y="1783080"/>
            <a:ext cx="1787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300" y="2295144"/>
            <a:ext cx="17876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MANUAL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09928"/>
            <a:ext cx="1787652" cy="84124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783080"/>
            <a:ext cx="1787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295144"/>
            <a:ext cx="17876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PROGRAMA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5060" y="1709928"/>
            <a:ext cx="1787652" cy="841248"/>
          </a:xfrm>
          <a:prstGeom prst="rect">
            <a:avLst/>
          </a:prstGeom>
          <a:solidFill>
            <a:srgbClr val="E2B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5060" y="1783080"/>
            <a:ext cx="1787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5060" y="2295144"/>
            <a:ext cx="17876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OPERADOR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709928"/>
            <a:ext cx="1787652" cy="841248"/>
          </a:xfrm>
          <a:prstGeom prst="rect">
            <a:avLst/>
          </a:prstGeom>
          <a:solidFill>
            <a:srgbClr val="C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783080"/>
            <a:ext cx="1787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295144"/>
            <a:ext cx="17876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BYPASS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89820" y="1709928"/>
            <a:ext cx="1787652" cy="841248"/>
          </a:xfrm>
          <a:prstGeom prst="rect">
            <a:avLst/>
          </a:prstGeom>
          <a:solidFill>
            <a:srgbClr val="E2B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9820" y="1783080"/>
            <a:ext cx="1787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9820" y="2295144"/>
            <a:ext cx="17876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MANUTENÇÃO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670048"/>
            <a:ext cx="11247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2A4A"/>
                </a:solidFill>
                <a:latin typeface="Calibri"/>
              </a:rPr>
              <a:t>MALHAS DE PROCESSO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962656"/>
            <a:ext cx="1787652" cy="84124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035808"/>
            <a:ext cx="1787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547872"/>
            <a:ext cx="17876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AUTO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00300" y="2962656"/>
            <a:ext cx="1787652" cy="841248"/>
          </a:xfrm>
          <a:prstGeom prst="rect">
            <a:avLst/>
          </a:prstGeom>
          <a:solidFill>
            <a:srgbClr val="C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00300" y="3035808"/>
            <a:ext cx="1787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00300" y="3547872"/>
            <a:ext cx="17876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MANUAL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2962656"/>
            <a:ext cx="1787652" cy="84124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3035808"/>
            <a:ext cx="1787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547872"/>
            <a:ext cx="17876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PROGRAMA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5060" y="2962656"/>
            <a:ext cx="1787652" cy="841248"/>
          </a:xfrm>
          <a:prstGeom prst="rect">
            <a:avLst/>
          </a:prstGeom>
          <a:solidFill>
            <a:srgbClr val="E2B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5060" y="3035808"/>
            <a:ext cx="1787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5060" y="3547872"/>
            <a:ext cx="17876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OPERADOR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2962656"/>
            <a:ext cx="1787652" cy="84124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3035808"/>
            <a:ext cx="1787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3547872"/>
            <a:ext cx="17876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BYPASS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89820" y="2962656"/>
            <a:ext cx="1787652" cy="841248"/>
          </a:xfrm>
          <a:prstGeom prst="rect">
            <a:avLst/>
          </a:prstGeom>
          <a:solidFill>
            <a:srgbClr val="E2B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89820" y="3035808"/>
            <a:ext cx="1787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9820" y="3547872"/>
            <a:ext cx="17876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MANUTENÇÃO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94360" y="4069080"/>
          <a:ext cx="2286000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365760" y="58521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22A4A"/>
                </a:solidFill>
                <a:latin typeface="Calibri"/>
              </a:rPr>
              <a:t>Utilidades — Auto × Manual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3429000" y="4069080"/>
          <a:ext cx="2286000" cy="1783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3200400" y="58521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22A4A"/>
                </a:solidFill>
                <a:latin typeface="Calibri"/>
              </a:rPr>
              <a:t>Utilidades — Programa × Operador</a:t>
            </a:r>
          </a:p>
        </p:txBody>
      </p:sp>
      <p:graphicFrame>
        <p:nvGraphicFramePr>
          <p:cNvPr id="47" name="Chart 46"/>
          <p:cNvGraphicFramePr>
            <a:graphicFrameLocks noGrp="1"/>
          </p:cNvGraphicFramePr>
          <p:nvPr/>
        </p:nvGraphicFramePr>
        <p:xfrm>
          <a:off x="6355080" y="4069080"/>
          <a:ext cx="2286000" cy="1783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6126480" y="58521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22A4A"/>
                </a:solidFill>
                <a:latin typeface="Calibri"/>
              </a:rPr>
              <a:t>Processo — Auto × Manual</a:t>
            </a:r>
          </a:p>
        </p:txBody>
      </p:sp>
      <p:graphicFrame>
        <p:nvGraphicFramePr>
          <p:cNvPr id="49" name="Chart 48"/>
          <p:cNvGraphicFramePr>
            <a:graphicFrameLocks noGrp="1"/>
          </p:cNvGraphicFramePr>
          <p:nvPr/>
        </p:nvGraphicFramePr>
        <p:xfrm>
          <a:off x="9189720" y="4069080"/>
          <a:ext cx="2286000" cy="1783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8961120" y="58521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22A4A"/>
                </a:solidFill>
                <a:latin typeface="Calibri"/>
              </a:rPr>
              <a:t>Processo — Programa × Operador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INPASA  ·  Avanço da Automação — Visão e Jornada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2A033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20624"/>
          </a:xfrm>
          <a:prstGeom prst="rect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48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Calibri"/>
              </a:rPr>
              <a:t>GESTÃO DE ATIVOS  ·  PILOTO EM DOURADOS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2A4A"/>
                </a:solidFill>
                <a:latin typeface="Calibri"/>
              </a:rPr>
              <a:t>Da malha ao ativo: visibilidade e disciplina operacional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828800"/>
            <a:ext cx="2468880" cy="17373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6596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2A033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7180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objetos simulados (unidade piloto)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828800"/>
            <a:ext cx="2468880" cy="17373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196596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2A033"/>
                </a:solidFill>
                <a:latin typeface="Calibri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97180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objetos simulados (visão consolidada)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1883664"/>
            <a:ext cx="146304" cy="146304"/>
          </a:xfrm>
          <a:prstGeom prst="ellipse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22A4A"/>
                </a:solidFill>
                <a:latin typeface="Calibri"/>
              </a:rPr>
              <a:t>Equipamentos em simulação  </a:t>
            </a:r>
            <a:r>
              <a:rPr sz="1250" b="0" i="0">
                <a:solidFill>
                  <a:srgbClr val="5B6B7F"/>
                </a:solidFill>
                <a:latin typeface="Calibri"/>
              </a:rPr>
              <a:t>monitorados em tempo real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359152"/>
            <a:ext cx="146304" cy="146304"/>
          </a:xfrm>
          <a:prstGeom prst="ellipse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3042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22A4A"/>
                </a:solidFill>
                <a:latin typeface="Calibri"/>
              </a:rPr>
              <a:t>Ativos inoperantes e fora de operação  </a:t>
            </a:r>
            <a:r>
              <a:rPr sz="1250" b="0" i="0">
                <a:solidFill>
                  <a:srgbClr val="5B6B7F"/>
                </a:solidFill>
                <a:latin typeface="Calibri"/>
              </a:rPr>
              <a:t>identificados automaticamente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2834640"/>
            <a:ext cx="146304" cy="146304"/>
          </a:xfrm>
          <a:prstGeom prst="ellipse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77977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22A4A"/>
                </a:solidFill>
                <a:latin typeface="Calibri"/>
              </a:rPr>
              <a:t>Auditoria de usuário  </a:t>
            </a:r>
            <a:r>
              <a:rPr sz="1250" b="0" i="0">
                <a:solidFill>
                  <a:srgbClr val="5B6B7F"/>
                </a:solidFill>
                <a:latin typeface="Calibri"/>
              </a:rPr>
              <a:t>quem fez o quê, em qual estação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3310128"/>
            <a:ext cx="146304" cy="146304"/>
          </a:xfrm>
          <a:prstGeom prst="ellipse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25526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22A4A"/>
                </a:solidFill>
                <a:latin typeface="Calibri"/>
              </a:rPr>
              <a:t>Tempo em simulação  </a:t>
            </a:r>
            <a:r>
              <a:rPr sz="1250" b="0" i="0">
                <a:solidFill>
                  <a:srgbClr val="5B6B7F"/>
                </a:solidFill>
                <a:latin typeface="Calibri"/>
              </a:rPr>
              <a:t>métrica inédita de disciplina operacional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977639"/>
            <a:ext cx="10698480" cy="822960"/>
          </a:xfrm>
          <a:prstGeom prst="rect">
            <a:avLst/>
          </a:prstGeom>
          <a:solidFill>
            <a:srgbClr val="E9F0F8"/>
          </a:solidFill>
          <a:ln w="12700">
            <a:solidFill>
              <a:srgbClr val="3E7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69080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5CA8"/>
                </a:solidFill>
                <a:latin typeface="Calibri"/>
              </a:rPr>
              <a:t>Plano: 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validar em Dourados e </a:t>
            </a:r>
            <a:r>
              <a:rPr sz="1400" b="1" i="0">
                <a:solidFill>
                  <a:srgbClr val="122A4A"/>
                </a:solidFill>
                <a:latin typeface="Calibri"/>
              </a:rPr>
              <a:t>padronizar para todo o Grupo Inpasa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 — gestão unificada e visibilidade operacional dos ativos.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INPASA  ·  Avanço da Automação — Visão e Jornada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2A033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20624"/>
          </a:xfrm>
          <a:prstGeom prst="rect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48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A033"/>
                </a:solidFill>
                <a:latin typeface="Calibri"/>
              </a:rPr>
              <a:t>CONCEITO  ·  OPERAÇÃO OBSERVATÓRIA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O operador supervisiona. O sistema opera.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86000"/>
            <a:ext cx="5212080" cy="1371600"/>
          </a:xfrm>
          <a:prstGeom prst="rect">
            <a:avLst/>
          </a:prstGeom>
          <a:solidFill>
            <a:srgbClr val="1B3A5E"/>
          </a:solidFill>
          <a:ln w="12700">
            <a:solidFill>
              <a:srgbClr val="3E7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468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A033"/>
                </a:solidFill>
                <a:latin typeface="Calibri"/>
              </a:rPr>
              <a:t>Operador → Vigia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97180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4F6F9"/>
                </a:solidFill>
                <a:latin typeface="Calibri"/>
              </a:rPr>
              <a:t>Supervisiona, decide sobre exceções e direciona. Sai do controle manual repetitivo.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1928" y="2286000"/>
            <a:ext cx="5212080" cy="1371600"/>
          </a:xfrm>
          <a:prstGeom prst="rect">
            <a:avLst/>
          </a:prstGeom>
          <a:solidFill>
            <a:srgbClr val="1B3A5E"/>
          </a:solidFill>
          <a:ln w="12700">
            <a:solidFill>
              <a:srgbClr val="3E7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2468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A033"/>
                </a:solidFill>
                <a:latin typeface="Calibri"/>
              </a:rPr>
              <a:t>Sistema → Opera e audita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97180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4F6F9"/>
                </a:solidFill>
                <a:latin typeface="Calibri"/>
              </a:rPr>
              <a:t>Mantém as malhas em automático e registra cada desvio do estado normal.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4069080"/>
            <a:ext cx="10698480" cy="1417320"/>
          </a:xfrm>
          <a:prstGeom prst="rect">
            <a:avLst/>
          </a:prstGeom>
          <a:solidFill>
            <a:srgbClr val="143152"/>
          </a:solidFill>
          <a:ln w="15875">
            <a:solidFill>
              <a:srgbClr val="F2A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51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As malhas de controle viram sensores de saúde.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8006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4F6F9"/>
                </a:solidFill>
                <a:latin typeface="Calibri"/>
              </a:rPr>
              <a:t>Desvios no comportamento de uma malha antecipam a falha antes que ela vire um evento — detecção preditiva nascendo de dentro do próprio controle.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INPASA  ·  Avanço da Automação — Visão e Jornada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2A033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20624"/>
          </a:xfrm>
          <a:prstGeom prst="rect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48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Calibri"/>
              </a:rPr>
              <a:t>A BASE  ·  ARQUITETURA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2A4A"/>
                </a:solidFill>
                <a:latin typeface="Calibri"/>
              </a:rPr>
              <a:t>Dados confiáveis e organizados são a fundação de tudo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01168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2011680"/>
            <a:ext cx="128016" cy="1371600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22128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2A4A"/>
                </a:solidFill>
                <a:latin typeface="Calibri"/>
              </a:rPr>
              <a:t>Coleta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6974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7F"/>
                </a:solidFill>
                <a:latin typeface="Calibri"/>
              </a:rPr>
              <a:t>De controladores e instrumentos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2331720"/>
            <a:ext cx="411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2A033"/>
                </a:solidFill>
                <a:latin typeface="Calibri"/>
              </a:rPr>
              <a:t>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30168" y="201168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30168" y="2011680"/>
            <a:ext cx="128016" cy="1371600"/>
          </a:xfrm>
          <a:prstGeom prst="rect">
            <a:avLst/>
          </a:prstGeom>
          <a:solidFill>
            <a:srgbClr val="3E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22776" y="22128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2A4A"/>
                </a:solidFill>
                <a:latin typeface="Calibri"/>
              </a:rPr>
              <a:t>Historiação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2776" y="26974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7F"/>
                </a:solidFill>
                <a:latin typeface="Calibri"/>
              </a:rPr>
              <a:t>Série temporal confiável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2331720"/>
            <a:ext cx="411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2A033"/>
                </a:solidFill>
                <a:latin typeface="Calibri"/>
              </a:rPr>
              <a:t>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0528" y="201168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0528" y="2011680"/>
            <a:ext cx="128016" cy="1371600"/>
          </a:xfrm>
          <a:prstGeom prst="rect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2128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2A4A"/>
                </a:solidFill>
                <a:latin typeface="Calibri"/>
              </a:rPr>
              <a:t>Contextualização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6974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7F"/>
                </a:solidFill>
                <a:latin typeface="Calibri"/>
              </a:rPr>
              <a:t>Dado com significado operacional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2331720"/>
            <a:ext cx="411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2A033"/>
                </a:solidFill>
                <a:latin typeface="Calibri"/>
              </a:rPr>
              <a:t>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90888" y="201168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90888" y="2011680"/>
            <a:ext cx="128016" cy="137160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83496" y="22128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2A4A"/>
                </a:solidFill>
                <a:latin typeface="Calibri"/>
              </a:rPr>
              <a:t>Análise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3496" y="26974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7F"/>
                </a:solidFill>
                <a:latin typeface="Calibri"/>
              </a:rPr>
              <a:t>Insight, comparação e decisão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3977639"/>
            <a:ext cx="5212080" cy="1417320"/>
          </a:xfrm>
          <a:prstGeom prst="rect">
            <a:avLst/>
          </a:prstGeom>
          <a:solidFill>
            <a:srgbClr val="E9F0F8"/>
          </a:solidFill>
          <a:ln w="12700">
            <a:solidFill>
              <a:srgbClr val="3E7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41605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5CA8"/>
                </a:solidFill>
                <a:latin typeface="Calibri"/>
              </a:rPr>
              <a:t>Varredura automática dos controladores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6634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A41"/>
                </a:solidFill>
                <a:latin typeface="Calibri"/>
              </a:rPr>
              <a:t>Padroniza a informação em escala, sem trabalho manual.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1928" y="3977639"/>
            <a:ext cx="5212080" cy="1417320"/>
          </a:xfrm>
          <a:prstGeom prst="rect">
            <a:avLst/>
          </a:prstGeom>
          <a:solidFill>
            <a:srgbClr val="E9F0F8"/>
          </a:solidFill>
          <a:ln w="12700">
            <a:solidFill>
              <a:srgbClr val="3E7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41605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5CA8"/>
                </a:solidFill>
                <a:latin typeface="Calibri"/>
              </a:rPr>
              <a:t>Benchmarking entre plantas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6634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A41"/>
                </a:solidFill>
                <a:latin typeface="Calibri"/>
              </a:rPr>
              <a:t>Saber qual unidade opera melhor — e por quê — e levar a melhor prática às demais.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INPASA  ·  Avanço da Automação — Visão e Jornada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2A033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20624"/>
          </a:xfrm>
          <a:prstGeom prst="rect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48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Calibri"/>
              </a:rPr>
              <a:t>INTELIGÊNCIA  ·  IA NO CONTROLE E MANUTENÇÃO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2A4A"/>
                </a:solidFill>
                <a:latin typeface="Calibri"/>
              </a:rPr>
              <a:t>IA onde ela gera valor: controlar melhor e falhar menos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011680"/>
            <a:ext cx="34564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2011680"/>
            <a:ext cx="3456432" cy="146304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2331720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22A4A"/>
                </a:solidFill>
                <a:latin typeface="Calibri"/>
              </a:rPr>
              <a:t>Controle avançado e adaptativo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3108960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F"/>
                </a:solidFill>
                <a:latin typeface="Calibri"/>
              </a:rPr>
              <a:t>Ajusta-se ao processo e reduz variabilidade.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17136" y="2011680"/>
            <a:ext cx="34564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7136" y="2011680"/>
            <a:ext cx="3456432" cy="14630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9744" y="2331720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22A4A"/>
                </a:solidFill>
                <a:latin typeface="Calibri"/>
              </a:rPr>
              <a:t>IA que aprende e recomenda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3108960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F"/>
                </a:solidFill>
                <a:latin typeface="Calibri"/>
              </a:rPr>
              <a:t>Predição de resultados e apoio à decisão do operador.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2011680"/>
            <a:ext cx="34564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4464" y="2011680"/>
            <a:ext cx="3456432" cy="146304"/>
          </a:xfrm>
          <a:prstGeom prst="rect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2331720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22A4A"/>
                </a:solidFill>
                <a:latin typeface="Calibri"/>
              </a:rPr>
              <a:t>Manutenção preditiva de verdade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3108960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F"/>
                </a:solidFill>
                <a:latin typeface="Calibri"/>
              </a:rPr>
              <a:t>Do reativo (corretiva/preventiva) ao agir antes da falha.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4297680"/>
            <a:ext cx="10698480" cy="109728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297680"/>
            <a:ext cx="10698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Menos paradas    ·    Mais confiabilidade    ·    Ativos preservados    ·    Operação mais autônoma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INPASA  ·  Avanço da Automação — Visão e Jornada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2A033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20624"/>
          </a:xfrm>
          <a:prstGeom prst="rect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48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A033"/>
                </a:solidFill>
                <a:latin typeface="Calibri"/>
              </a:rPr>
              <a:t>VISÃO  ·  CENTRO DE OPERAÇÕES INTEGRADO (COI)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Uma só sala de inteligência para todo o Grupo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86000"/>
            <a:ext cx="3383280" cy="1554480"/>
          </a:xfrm>
          <a:prstGeom prst="rect">
            <a:avLst/>
          </a:prstGeom>
          <a:solidFill>
            <a:srgbClr val="1B3A5E"/>
          </a:solidFill>
          <a:ln w="12700">
            <a:solidFill>
              <a:srgbClr val="3E7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7" y="246888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2A033"/>
                </a:solidFill>
                <a:latin typeface="Calibri"/>
              </a:rPr>
              <a:t>Robusto e escalável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315468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4F6F9"/>
                </a:solidFill>
                <a:latin typeface="Calibri"/>
              </a:rPr>
              <a:t>Cresce com o Grupo, unidade a unidade.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2286000"/>
            <a:ext cx="3383280" cy="1554480"/>
          </a:xfrm>
          <a:prstGeom prst="rect">
            <a:avLst/>
          </a:prstGeom>
          <a:solidFill>
            <a:srgbClr val="1B3A5E"/>
          </a:solidFill>
          <a:ln w="12700">
            <a:solidFill>
              <a:srgbClr val="3E7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46888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2A033"/>
                </a:solidFill>
                <a:latin typeface="Calibri"/>
              </a:rPr>
              <a:t>Centraliza decisão, não só telas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315468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4F6F9"/>
                </a:solidFill>
                <a:latin typeface="Calibri"/>
              </a:rPr>
              <a:t>Visão única e autonomia operacional.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8" y="2286000"/>
            <a:ext cx="3383280" cy="1554480"/>
          </a:xfrm>
          <a:prstGeom prst="rect">
            <a:avLst/>
          </a:prstGeom>
          <a:solidFill>
            <a:srgbClr val="1B3A5E"/>
          </a:solidFill>
          <a:ln w="12700">
            <a:solidFill>
              <a:srgbClr val="3E7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46888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2A033"/>
                </a:solidFill>
                <a:latin typeface="Calibri"/>
              </a:rPr>
              <a:t>Otimização de mão de obra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315468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4F6F9"/>
                </a:solidFill>
                <a:latin typeface="Calibri"/>
              </a:rPr>
              <a:t>Especialistas focados onde agregam mais.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0624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F4F6F9"/>
                </a:solidFill>
                <a:latin typeface="Calibri"/>
              </a:rPr>
              <a:t>Inspirado em modelos já consolidados em indústrias de grande porte — </a:t>
            </a:r>
            <a:r>
              <a:rPr sz="1400" b="1" i="1">
                <a:solidFill>
                  <a:srgbClr val="FFFFFF"/>
                </a:solidFill>
                <a:latin typeface="Calibri"/>
              </a:rPr>
              <a:t>trazido para a realidade do agronegócio da Inpasa.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INPASA  ·  Avanço da Automação — Visão e Jornada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2A033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20624"/>
          </a:xfrm>
          <a:prstGeom prst="rect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48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Calibri"/>
              </a:rPr>
              <a:t>ROADMAP  ·  UM CAMINHO JÁ EM MOVIMENTO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2A4A"/>
                </a:solidFill>
                <a:latin typeface="Calibri"/>
              </a:rPr>
              <a:t>Incremental, medido e em execução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46120"/>
            <a:ext cx="10332720" cy="54864"/>
          </a:xfrm>
          <a:prstGeom prst="rect">
            <a:avLst/>
          </a:prstGeom>
          <a:solidFill>
            <a:srgbClr val="D7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37943" y="3127248"/>
            <a:ext cx="292608" cy="292608"/>
          </a:xfrm>
          <a:prstGeom prst="ellipse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82880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28800"/>
            <a:ext cx="2468880" cy="45720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83664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HOJE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59152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41"/>
                </a:solidFill>
                <a:latin typeface="Calibri"/>
              </a:rPr>
              <a:t>Malhas medidas e auditadas + piloto de ativos em Dourados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5661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F9E44"/>
                </a:solidFill>
                <a:latin typeface="Calibri"/>
              </a:rPr>
              <a:t>Em andamento</a:t>
            </a:r>
          </a:p>
        </p:txBody>
      </p:sp>
      <p:sp>
        <p:nvSpPr>
          <p:cNvPr id="12" name="Oval 11"/>
          <p:cNvSpPr/>
          <p:nvPr/>
        </p:nvSpPr>
        <p:spPr>
          <a:xfrm>
            <a:off x="4718304" y="3127248"/>
            <a:ext cx="292608" cy="292608"/>
          </a:xfrm>
          <a:prstGeom prst="ellipse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0168" y="182880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30168" y="1828800"/>
            <a:ext cx="2468880" cy="457200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1883664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CURTO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2359152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41"/>
                </a:solidFill>
                <a:latin typeface="Calibri"/>
              </a:rPr>
              <a:t>Padronização de dados + gestão de ativos em todo o Grupo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5661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5CA8"/>
                </a:solidFill>
                <a:latin typeface="Calibri"/>
              </a:rPr>
              <a:t>Próximo</a:t>
            </a:r>
          </a:p>
        </p:txBody>
      </p:sp>
      <p:sp>
        <p:nvSpPr>
          <p:cNvPr id="18" name="Oval 17"/>
          <p:cNvSpPr/>
          <p:nvPr/>
        </p:nvSpPr>
        <p:spPr>
          <a:xfrm>
            <a:off x="7598664" y="3127248"/>
            <a:ext cx="292608" cy="292608"/>
          </a:xfrm>
          <a:prstGeom prst="ellipse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10528" y="182880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0528" y="1828800"/>
            <a:ext cx="2468880" cy="457200"/>
          </a:xfrm>
          <a:prstGeom prst="rect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1883664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2359152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41"/>
                </a:solidFill>
                <a:latin typeface="Calibri"/>
              </a:rPr>
              <a:t>IA aplicada ao controle e à manutenção preditiva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5661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2A033"/>
                </a:solidFill>
                <a:latin typeface="Calibri"/>
              </a:rPr>
              <a:t>A seguir</a:t>
            </a:r>
          </a:p>
        </p:txBody>
      </p:sp>
      <p:sp>
        <p:nvSpPr>
          <p:cNvPr id="24" name="Oval 23"/>
          <p:cNvSpPr/>
          <p:nvPr/>
        </p:nvSpPr>
        <p:spPr>
          <a:xfrm>
            <a:off x="10479024" y="3127248"/>
            <a:ext cx="292608" cy="292608"/>
          </a:xfrm>
          <a:prstGeom prst="ellipse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90888" y="182880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  <a:effectLst>
            <a:outerShdw blurRad="80000" dist="30000" dir="5400000" rotWithShape="0">
              <a:srgbClr val="1B2A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90888" y="1828800"/>
            <a:ext cx="2468880" cy="4572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0888" y="1883664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VISÃO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768" y="2359152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41"/>
                </a:solidFill>
                <a:latin typeface="Calibri"/>
              </a:rPr>
              <a:t>Centro de Operações Integrado e operação autônoma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35661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22A4A"/>
                </a:solidFill>
                <a:latin typeface="Calibri"/>
              </a:rPr>
              <a:t>Destino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4572000"/>
            <a:ext cx="10698480" cy="914400"/>
          </a:xfrm>
          <a:prstGeom prst="rect">
            <a:avLst/>
          </a:prstGeom>
          <a:solidFill>
            <a:srgbClr val="E9F0F8"/>
          </a:solidFill>
          <a:ln w="12700">
            <a:solidFill>
              <a:srgbClr val="3E7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57200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5CA8"/>
                </a:solidFill>
                <a:latin typeface="Calibri"/>
              </a:rPr>
              <a:t>Cada etapa entrega valor por si — e prepara a seguinte.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INPASA  ·  Avanço da Automação — Visão e Jornada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2A033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A Inpasa sabe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2A033"/>
                </a:solidFill>
                <a:latin typeface="Calibri"/>
              </a:rPr>
              <a:t>aonde quer chegar.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2926080" cy="45720"/>
          </a:xfrm>
          <a:prstGeom prst="rect">
            <a:avLst/>
          </a:prstGeom>
          <a:solidFill>
            <a:srgbClr val="3E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4F6F9"/>
                </a:solidFill>
                <a:latin typeface="Calibri"/>
              </a:rPr>
              <a:t>Damos os passos com método e medição. Buscamos parceiros que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acelerem essa visão</a:t>
            </a:r>
            <a:r>
              <a:rPr sz="1600" b="0" i="0">
                <a:solidFill>
                  <a:srgbClr val="F4F6F9"/>
                </a:solidFill>
                <a:latin typeface="Calibri"/>
              </a:rPr>
              <a:t> — com tecnologia robusta, escalável e que respeite a jornada que já construímos.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2A033"/>
                </a:solidFill>
                <a:latin typeface="Calibri"/>
              </a:rP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