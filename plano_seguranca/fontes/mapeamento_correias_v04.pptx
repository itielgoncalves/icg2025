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8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5447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4E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FA32A"/>
          </a:solidFill>
          <a:ln w="12700">
            <a:solidFill>
              <a:srgbClr val="FFA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858000" y="914400"/>
            <a:ext cx="6400800" cy="6400800"/>
          </a:xfrm>
          <a:prstGeom prst="ellipse">
            <a:avLst/>
          </a:prstGeom>
          <a:solidFill>
            <a:srgbClr val="1A5A94">
              <a:alpha val="30000"/>
            </a:srgbClr>
          </a:solidFill>
          <a:ln w="12700">
            <a:solidFill>
              <a:srgbClr val="1A5A9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772400" y="1828800"/>
            <a:ext cx="4572000" cy="4572000"/>
          </a:xfrm>
          <a:prstGeom prst="ellipse">
            <a:avLst/>
          </a:prstGeom>
          <a:solidFill>
            <a:srgbClr val="0D3D66">
              <a:alpha val="40000"/>
            </a:srgbClr>
          </a:solidFill>
          <a:ln w="12700">
            <a:solidFill>
              <a:srgbClr val="0D3D6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INPASA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AA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QUE ENERGIA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5029200" cy="27432"/>
          </a:xfrm>
          <a:prstGeom prst="rect">
            <a:avLst/>
          </a:prstGeom>
          <a:solidFill>
            <a:srgbClr val="EAA239"/>
          </a:solidFill>
          <a:ln w="12700">
            <a:solidFill>
              <a:srgbClr val="EAA2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Correias Antichama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AA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 do Levantamento — Grupo INPASA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02920" y="3154680"/>
            <a:ext cx="2286000" cy="438912"/>
          </a:xfrm>
          <a:prstGeom prst="roundRect">
            <a:avLst>
              <a:gd name="adj" fmla="val 125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02920" y="31546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 correias avaliadas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17520" y="3154680"/>
            <a:ext cx="2286000" cy="438912"/>
          </a:xfrm>
          <a:prstGeom prst="roundRect">
            <a:avLst>
              <a:gd name="adj" fmla="val 125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017520" y="31546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unidades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3154680"/>
            <a:ext cx="2286000" cy="438912"/>
          </a:xfrm>
          <a:prstGeom prst="roundRect">
            <a:avLst>
              <a:gd name="adj" fmla="val 125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577840" y="31546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340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840480"/>
            <a:ext cx="6858000" cy="530352"/>
          </a:xfrm>
          <a:prstGeom prst="roundRect">
            <a:avLst>
              <a:gd name="adj" fmla="val 10345"/>
            </a:avLst>
          </a:prstGeom>
          <a:solidFill>
            <a:srgbClr val="609346">
              <a:alpha val="85000"/>
            </a:srgbClr>
          </a:solidFill>
          <a:ln w="12700">
            <a:solidFill>
              <a:srgbClr val="60934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02920" y="3840480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LAUDO FLEXLAB 0397/26 · 08/06/2026  —  NMT CT-010 CONFIRMADA ANTICHAMA (ISO 340)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BF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de Junho de 2026  ·  Uso Restrito — Diretoria e VPs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EAA239"/>
          </a:solidFill>
          <a:ln w="12700">
            <a:solidFill>
              <a:srgbClr val="EAA2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85216"/>
          </a:xfrm>
          <a:prstGeom prst="rect">
            <a:avLst/>
          </a:prstGeom>
          <a:solidFill>
            <a:srgbClr val="124E81"/>
          </a:solidFill>
          <a:ln w="12700">
            <a:solidFill>
              <a:srgbClr val="124E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85216"/>
          </a:xfrm>
          <a:prstGeom prst="rect">
            <a:avLst/>
          </a:prstGeom>
          <a:solidFill>
            <a:srgbClr val="FFA32A"/>
          </a:solidFill>
          <a:ln w="12700">
            <a:solidFill>
              <a:srgbClr val="FFA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9144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do Levantamento — 148 Correias · NMT · SNP · SDL · DRD · BLS · LEM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509760" y="0"/>
            <a:ext cx="2468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DBF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INPASA · Jun/2026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94944"/>
            <a:ext cx="11795760" cy="475488"/>
          </a:xfrm>
          <a:prstGeom prst="rect">
            <a:avLst/>
          </a:prstGeom>
          <a:solidFill>
            <a:srgbClr val="609346"/>
          </a:solidFill>
          <a:ln w="12700">
            <a:solidFill>
              <a:srgbClr val="6093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82880" y="694944"/>
            <a:ext cx="11795760" cy="475488"/>
          </a:xfrm>
          <a:prstGeom prst="rect">
            <a:avLst/>
          </a:prstGeom>
          <a:noFill/>
          <a:ln/>
        </p:spPr>
        <p:txBody>
          <a:bodyPr wrap="square" lIns="0" tIns="152400" rIns="15240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FLEXLAB 0397/26 · 08/06/2026  ·  </a:t>
            </a:r>
            <a:r>
              <a:rPr lang="en-US" sz="1050" dirty="0">
                <a:solidFill>
                  <a:srgbClr val="D4F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NMT CT-010 (correia do sinistro):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ANTICHAMA CONFIRMADA — ISO 340</a:t>
            </a:r>
            <a:r>
              <a:rPr lang="en-US" sz="1000" dirty="0">
                <a:solidFill>
                  <a:srgbClr val="D4F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Inclusa nas 88 antichama 2ª linha (categoria: com laudo, sem ID visual).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880" y="1261872"/>
            <a:ext cx="7845552" cy="274320"/>
          </a:xfrm>
          <a:prstGeom prst="rect">
            <a:avLst/>
          </a:prstGeom>
          <a:solidFill>
            <a:srgbClr val="609346"/>
          </a:solidFill>
          <a:ln w="12700">
            <a:solidFill>
              <a:srgbClr val="6093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82880" y="1261872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MANTER EM OPERAÇÃO — 102 correias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083296" y="1261872"/>
            <a:ext cx="3895344" cy="274320"/>
          </a:xfrm>
          <a:prstGeom prst="rect">
            <a:avLst/>
          </a:prstGeom>
          <a:solidFill>
            <a:srgbClr val="CC5121"/>
          </a:solidFill>
          <a:ln w="12700">
            <a:solidFill>
              <a:srgbClr val="CC512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741664" y="1261872"/>
            <a:ext cx="3236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SUBSTITUIR — 46  ·  R$ 6,15M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1627632"/>
            <a:ext cx="1920240" cy="4681728"/>
          </a:xfrm>
          <a:prstGeom prst="rect">
            <a:avLst/>
          </a:prstGeom>
          <a:solidFill>
            <a:srgbClr val="EAF5DC"/>
          </a:solidFill>
          <a:ln w="12700">
            <a:solidFill>
              <a:srgbClr val="609346">
                <a:alpha val="45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82880" y="1627632"/>
            <a:ext cx="1920240" cy="475488"/>
          </a:xfrm>
          <a:prstGeom prst="rect">
            <a:avLst/>
          </a:prstGeom>
          <a:solidFill>
            <a:srgbClr val="609346"/>
          </a:solidFill>
          <a:ln w="12700">
            <a:solidFill>
              <a:srgbClr val="6093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74320" y="16367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188720" y="17556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12,8%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2139696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9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1ª Linha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237744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Identificação visual na correia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2670048"/>
            <a:ext cx="1737360" cy="18288"/>
          </a:xfrm>
          <a:prstGeom prst="rect">
            <a:avLst/>
          </a:prstGeom>
          <a:solidFill>
            <a:srgbClr val="609346">
              <a:alpha val="45000"/>
            </a:srgbClr>
          </a:solidFill>
          <a:ln w="12700">
            <a:solidFill>
              <a:srgbClr val="60934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274320" y="2724912"/>
            <a:ext cx="1792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Correia com marcação visual impressa, conforme exigido pela norma. Critério mais rigoroso.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3831336"/>
            <a:ext cx="82296" cy="82296"/>
          </a:xfrm>
          <a:prstGeom prst="ellipse">
            <a:avLst/>
          </a:prstGeom>
          <a:solidFill>
            <a:srgbClr val="609346"/>
          </a:solidFill>
          <a:ln w="12700">
            <a:solidFill>
              <a:srgbClr val="6093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84048" y="3767328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visual impressa na correia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4160520"/>
            <a:ext cx="82296" cy="82296"/>
          </a:xfrm>
          <a:prstGeom prst="ellipse">
            <a:avLst/>
          </a:prstGeom>
          <a:solidFill>
            <a:srgbClr val="609346"/>
          </a:solidFill>
          <a:ln w="12700">
            <a:solidFill>
              <a:srgbClr val="6093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84048" y="409651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Conforme exigência normativa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4489704"/>
            <a:ext cx="82296" cy="82296"/>
          </a:xfrm>
          <a:prstGeom prst="ellipse">
            <a:avLst/>
          </a:prstGeom>
          <a:solidFill>
            <a:srgbClr val="609346"/>
          </a:solidFill>
          <a:ln w="12700">
            <a:solidFill>
              <a:srgbClr val="6093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384048" y="4425696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 completa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5888736"/>
            <a:ext cx="1737360" cy="329184"/>
          </a:xfrm>
          <a:prstGeom prst="roundRect">
            <a:avLst>
              <a:gd name="adj" fmla="val 11111"/>
            </a:avLst>
          </a:prstGeom>
          <a:solidFill>
            <a:srgbClr val="609346">
              <a:alpha val="90000"/>
            </a:srgbClr>
          </a:solidFill>
          <a:ln w="12700">
            <a:solidFill>
              <a:srgbClr val="60934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274320" y="58887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CONFORME NORMA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157984" y="1627632"/>
            <a:ext cx="1920240" cy="4681728"/>
          </a:xfrm>
          <a:prstGeom prst="rect">
            <a:avLst/>
          </a:prstGeom>
          <a:solidFill>
            <a:srgbClr val="EEF7E3"/>
          </a:solidFill>
          <a:ln w="12700">
            <a:solidFill>
              <a:srgbClr val="74A83A">
                <a:alpha val="45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2157984" y="1627632"/>
            <a:ext cx="1920240" cy="475488"/>
          </a:xfrm>
          <a:prstGeom prst="rect">
            <a:avLst/>
          </a:prstGeom>
          <a:solidFill>
            <a:srgbClr val="74A83A"/>
          </a:solidFill>
          <a:ln w="12700">
            <a:solidFill>
              <a:srgbClr val="74A8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2249424" y="16367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3163824" y="17556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37,8%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249424" y="2139696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4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2ª Linha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249424" y="237744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Ev. física + teste aprovado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49424" y="2670048"/>
            <a:ext cx="1737360" cy="18288"/>
          </a:xfrm>
          <a:prstGeom prst="rect">
            <a:avLst/>
          </a:prstGeom>
          <a:solidFill>
            <a:srgbClr val="74A83A">
              <a:alpha val="45000"/>
            </a:srgbClr>
          </a:solidFill>
          <a:ln w="12700">
            <a:solidFill>
              <a:srgbClr val="74A83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2249424" y="2724912"/>
            <a:ext cx="1792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 física localizada em campo e aprovadas no ensaio ISO 340. Com marcação visual. Aguardando laudo formal.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249424" y="3831336"/>
            <a:ext cx="82296" cy="82296"/>
          </a:xfrm>
          <a:prstGeom prst="ellipse">
            <a:avLst/>
          </a:prstGeom>
          <a:solidFill>
            <a:srgbClr val="74A83A"/>
          </a:solidFill>
          <a:ln w="12700">
            <a:solidFill>
              <a:srgbClr val="74A8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2359152" y="3767328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 física em campo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249424" y="4160520"/>
            <a:ext cx="82296" cy="82296"/>
          </a:xfrm>
          <a:prstGeom prst="ellipse">
            <a:avLst/>
          </a:prstGeom>
          <a:solidFill>
            <a:srgbClr val="74A83A"/>
          </a:solidFill>
          <a:ln w="12700">
            <a:solidFill>
              <a:srgbClr val="74A8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2359152" y="409651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Aprovadas — ISO 340 campo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249424" y="4489704"/>
            <a:ext cx="82296" cy="82296"/>
          </a:xfrm>
          <a:prstGeom prst="ellipse">
            <a:avLst/>
          </a:prstGeom>
          <a:solidFill>
            <a:srgbClr val="74A83A"/>
          </a:solidFill>
          <a:ln w="12700">
            <a:solidFill>
              <a:srgbClr val="74A8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2359152" y="4425696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Pendente laudo laboratorial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249424" y="5888736"/>
            <a:ext cx="1737360" cy="329184"/>
          </a:xfrm>
          <a:prstGeom prst="roundRect">
            <a:avLst>
              <a:gd name="adj" fmla="val 11111"/>
            </a:avLst>
          </a:prstGeom>
          <a:solidFill>
            <a:srgbClr val="74A83A">
              <a:alpha val="90000"/>
            </a:srgbClr>
          </a:solidFill>
          <a:ln w="12700">
            <a:solidFill>
              <a:srgbClr val="74A83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2249424" y="58887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PENDENTE LAUDO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133088" y="1627632"/>
            <a:ext cx="1920240" cy="4681728"/>
          </a:xfrm>
          <a:prstGeom prst="rect">
            <a:avLst/>
          </a:prstGeom>
          <a:solidFill>
            <a:srgbClr val="F0FAE8"/>
          </a:solidFill>
          <a:ln w="12700">
            <a:solidFill>
              <a:srgbClr val="8DC255">
                <a:alpha val="45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4133088" y="1627632"/>
            <a:ext cx="1920240" cy="475488"/>
          </a:xfrm>
          <a:prstGeom prst="rect">
            <a:avLst/>
          </a:prstGeom>
          <a:solidFill>
            <a:srgbClr val="8DC255"/>
          </a:solidFill>
          <a:ln w="12700">
            <a:solidFill>
              <a:srgbClr val="8DC2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4224528" y="16367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5138928" y="17556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6,8%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224528" y="2139696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DC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2ª Linha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224528" y="237744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laudo, sem ID visual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224528" y="2670048"/>
            <a:ext cx="1737360" cy="18288"/>
          </a:xfrm>
          <a:prstGeom prst="rect">
            <a:avLst/>
          </a:prstGeom>
          <a:solidFill>
            <a:srgbClr val="8DC255">
              <a:alpha val="45000"/>
            </a:srgbClr>
          </a:solidFill>
          <a:ln w="12700">
            <a:solidFill>
              <a:srgbClr val="8DC2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4224528" y="2724912"/>
            <a:ext cx="1792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Possuem laudo ou documento de conformidade. </a:t>
            </a:r>
            <a:r>
              <a:rPr lang="en-US" sz="80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Aprovadas</a:t>
            </a: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</a:t>
            </a:r>
            <a:r>
              <a:rPr lang="en-US" sz="80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ensaio</a:t>
            </a: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ISO 340. Sem identificação visual na correia. NMT CT-010 inclusa (Flexlab 0397/26).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224528" y="3831336"/>
            <a:ext cx="82296" cy="82296"/>
          </a:xfrm>
          <a:prstGeom prst="ellipse">
            <a:avLst/>
          </a:prstGeom>
          <a:solidFill>
            <a:srgbClr val="8DC255"/>
          </a:solidFill>
          <a:ln w="12700">
            <a:solidFill>
              <a:srgbClr val="8DC2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4334256" y="3767328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Laudo ou doc. de conformidade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224528" y="4160520"/>
            <a:ext cx="82296" cy="82296"/>
          </a:xfrm>
          <a:prstGeom prst="ellipse">
            <a:avLst/>
          </a:prstGeom>
          <a:solidFill>
            <a:srgbClr val="8DC255"/>
          </a:solidFill>
          <a:ln w="12700">
            <a:solidFill>
              <a:srgbClr val="8DC2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4334256" y="409651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marcação visual na correia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224528" y="4489704"/>
            <a:ext cx="82296" cy="82296"/>
          </a:xfrm>
          <a:prstGeom prst="ellipse">
            <a:avLst/>
          </a:prstGeom>
          <a:solidFill>
            <a:srgbClr val="8DC255"/>
          </a:solidFill>
          <a:ln w="12700">
            <a:solidFill>
              <a:srgbClr val="8DC2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4334256" y="4425696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NMT CT-010 — Flexlab 0397/26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224528" y="5888736"/>
            <a:ext cx="1737360" cy="329184"/>
          </a:xfrm>
          <a:prstGeom prst="roundRect">
            <a:avLst>
              <a:gd name="adj" fmla="val 11111"/>
            </a:avLst>
          </a:prstGeom>
          <a:solidFill>
            <a:srgbClr val="8DC255">
              <a:alpha val="90000"/>
            </a:srgbClr>
          </a:solidFill>
          <a:ln w="12700">
            <a:solidFill>
              <a:srgbClr val="8DC25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Text 57"/>
          <p:cNvSpPr/>
          <p:nvPr/>
        </p:nvSpPr>
        <p:spPr>
          <a:xfrm>
            <a:off x="4224528" y="58887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REGULARIZAR ID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108192" y="1627632"/>
            <a:ext cx="1920240" cy="4681728"/>
          </a:xfrm>
          <a:prstGeom prst="rect">
            <a:avLst/>
          </a:prstGeom>
          <a:solidFill>
            <a:srgbClr val="F4FBED"/>
          </a:solidFill>
          <a:ln w="12700">
            <a:solidFill>
              <a:srgbClr val="A8C96B">
                <a:alpha val="45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1" name="Shape 59"/>
          <p:cNvSpPr/>
          <p:nvPr/>
        </p:nvSpPr>
        <p:spPr>
          <a:xfrm>
            <a:off x="6108192" y="1627632"/>
            <a:ext cx="1920240" cy="475488"/>
          </a:xfrm>
          <a:prstGeom prst="rect">
            <a:avLst/>
          </a:prstGeom>
          <a:solidFill>
            <a:srgbClr val="A8C96B"/>
          </a:solidFill>
          <a:ln w="12700">
            <a:solidFill>
              <a:srgbClr val="A8C9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Text 60"/>
          <p:cNvSpPr/>
          <p:nvPr/>
        </p:nvSpPr>
        <p:spPr>
          <a:xfrm>
            <a:off x="6199632" y="16367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800" dirty="0"/>
          </a:p>
        </p:txBody>
      </p:sp>
      <p:sp>
        <p:nvSpPr>
          <p:cNvPr id="63" name="Text 61"/>
          <p:cNvSpPr/>
          <p:nvPr/>
        </p:nvSpPr>
        <p:spPr>
          <a:xfrm>
            <a:off x="7114032" y="17556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11,5%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199632" y="2139696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C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2ª Linha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199632" y="237744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teste, sem laudo e sem ID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199632" y="2670048"/>
            <a:ext cx="1737360" cy="18288"/>
          </a:xfrm>
          <a:prstGeom prst="rect">
            <a:avLst/>
          </a:prstGeom>
          <a:solidFill>
            <a:srgbClr val="A8C96B">
              <a:alpha val="45000"/>
            </a:srgbClr>
          </a:solidFill>
          <a:ln w="12700">
            <a:solidFill>
              <a:srgbClr val="A8C96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Text 65"/>
          <p:cNvSpPr/>
          <p:nvPr/>
        </p:nvSpPr>
        <p:spPr>
          <a:xfrm>
            <a:off x="6199632" y="2724912"/>
            <a:ext cx="1792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laudo formal e sem identificação visual. Aprovadas apenas pelo ensaio ISO 340 em campo. Maior exposição documental.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199632" y="3831336"/>
            <a:ext cx="82296" cy="82296"/>
          </a:xfrm>
          <a:prstGeom prst="ellipse">
            <a:avLst/>
          </a:prstGeom>
          <a:solidFill>
            <a:srgbClr val="A8C96B"/>
          </a:solidFill>
          <a:ln w="12700">
            <a:solidFill>
              <a:srgbClr val="A8C9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Text 67"/>
          <p:cNvSpPr/>
          <p:nvPr/>
        </p:nvSpPr>
        <p:spPr>
          <a:xfrm>
            <a:off x="6309360" y="3767328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Aprovadas no teste ISO 340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199632" y="4160520"/>
            <a:ext cx="82296" cy="82296"/>
          </a:xfrm>
          <a:prstGeom prst="ellipse">
            <a:avLst/>
          </a:prstGeom>
          <a:solidFill>
            <a:srgbClr val="A8C96B"/>
          </a:solidFill>
          <a:ln w="12700">
            <a:solidFill>
              <a:srgbClr val="A8C9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Text 69"/>
          <p:cNvSpPr/>
          <p:nvPr/>
        </p:nvSpPr>
        <p:spPr>
          <a:xfrm>
            <a:off x="6309360" y="409651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laudo e sem ID visual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199632" y="4489704"/>
            <a:ext cx="82296" cy="82296"/>
          </a:xfrm>
          <a:prstGeom prst="ellipse">
            <a:avLst/>
          </a:prstGeom>
          <a:solidFill>
            <a:srgbClr val="A8C96B"/>
          </a:solidFill>
          <a:ln w="12700">
            <a:solidFill>
              <a:srgbClr val="A8C9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3" name="Text 71"/>
          <p:cNvSpPr/>
          <p:nvPr/>
        </p:nvSpPr>
        <p:spPr>
          <a:xfrm>
            <a:off x="6309360" y="4425696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exposição — priorizar doc.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199632" y="5888736"/>
            <a:ext cx="1737360" cy="329184"/>
          </a:xfrm>
          <a:prstGeom prst="roundRect">
            <a:avLst>
              <a:gd name="adj" fmla="val 11111"/>
            </a:avLst>
          </a:prstGeom>
          <a:solidFill>
            <a:srgbClr val="A8C96B">
              <a:alpha val="90000"/>
            </a:srgbClr>
          </a:solidFill>
          <a:ln w="12700">
            <a:solidFill>
              <a:srgbClr val="A8C96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5" name="Text 73"/>
          <p:cNvSpPr/>
          <p:nvPr/>
        </p:nvSpPr>
        <p:spPr>
          <a:xfrm>
            <a:off x="6199632" y="58887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OBTER LAUDO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8083296" y="1627632"/>
            <a:ext cx="1920240" cy="4681728"/>
          </a:xfrm>
          <a:prstGeom prst="rect">
            <a:avLst/>
          </a:prstGeom>
          <a:solidFill>
            <a:srgbClr val="FEF0EB"/>
          </a:solidFill>
          <a:ln w="12700">
            <a:solidFill>
              <a:srgbClr val="CC5121">
                <a:alpha val="45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7" name="Shape 75"/>
          <p:cNvSpPr/>
          <p:nvPr/>
        </p:nvSpPr>
        <p:spPr>
          <a:xfrm>
            <a:off x="8083296" y="1627632"/>
            <a:ext cx="1920240" cy="475488"/>
          </a:xfrm>
          <a:prstGeom prst="rect">
            <a:avLst/>
          </a:prstGeom>
          <a:solidFill>
            <a:srgbClr val="CC5121"/>
          </a:solidFill>
          <a:ln w="12700">
            <a:solidFill>
              <a:srgbClr val="CC512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8" name="Text 76"/>
          <p:cNvSpPr/>
          <p:nvPr/>
        </p:nvSpPr>
        <p:spPr>
          <a:xfrm>
            <a:off x="8174736" y="16367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2800" dirty="0"/>
          </a:p>
        </p:txBody>
      </p:sp>
      <p:sp>
        <p:nvSpPr>
          <p:cNvPr id="79" name="Text 77"/>
          <p:cNvSpPr/>
          <p:nvPr/>
        </p:nvSpPr>
        <p:spPr>
          <a:xfrm>
            <a:off x="9089136" y="17556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27,7%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8174736" y="2139696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C5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Reprovadas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8174736" y="237744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Falha no ensaio ISO 340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8174736" y="2670048"/>
            <a:ext cx="1737360" cy="18288"/>
          </a:xfrm>
          <a:prstGeom prst="rect">
            <a:avLst/>
          </a:prstGeom>
          <a:solidFill>
            <a:srgbClr val="CC5121">
              <a:alpha val="45000"/>
            </a:srgbClr>
          </a:solidFill>
          <a:ln w="12700">
            <a:solidFill>
              <a:srgbClr val="CC512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3" name="Text 81"/>
          <p:cNvSpPr/>
          <p:nvPr/>
        </p:nvSpPr>
        <p:spPr>
          <a:xfrm>
            <a:off x="8174736" y="2724912"/>
            <a:ext cx="1792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Reprovadas no ensaio de flamabilidade ISO 340 em campo. Substituição prioritária por criticidade.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8174736" y="3831336"/>
            <a:ext cx="82296" cy="82296"/>
          </a:xfrm>
          <a:prstGeom prst="ellipse">
            <a:avLst/>
          </a:prstGeom>
          <a:solidFill>
            <a:srgbClr val="CC5121"/>
          </a:solidFill>
          <a:ln w="12700">
            <a:solidFill>
              <a:srgbClr val="CC512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5" name="Text 83"/>
          <p:cNvSpPr/>
          <p:nvPr/>
        </p:nvSpPr>
        <p:spPr>
          <a:xfrm>
            <a:off x="8284464" y="3767328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SNP: 21 itens · R$ 3,55 mi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8174736" y="4160520"/>
            <a:ext cx="82296" cy="82296"/>
          </a:xfrm>
          <a:prstGeom prst="ellipse">
            <a:avLst/>
          </a:prstGeom>
          <a:solidFill>
            <a:srgbClr val="CC5121"/>
          </a:solidFill>
          <a:ln w="12700">
            <a:solidFill>
              <a:srgbClr val="CC512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7" name="Text 85"/>
          <p:cNvSpPr/>
          <p:nvPr/>
        </p:nvSpPr>
        <p:spPr>
          <a:xfrm>
            <a:off x="8284464" y="409651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NMT: 15 itens · R$ 1,70 mi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8174736" y="4489704"/>
            <a:ext cx="82296" cy="82296"/>
          </a:xfrm>
          <a:prstGeom prst="ellipse">
            <a:avLst/>
          </a:prstGeom>
          <a:solidFill>
            <a:srgbClr val="CC5121"/>
          </a:solidFill>
          <a:ln w="12700">
            <a:solidFill>
              <a:srgbClr val="CC512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9" name="Text 87"/>
          <p:cNvSpPr/>
          <p:nvPr/>
        </p:nvSpPr>
        <p:spPr>
          <a:xfrm>
            <a:off x="8284464" y="4425696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SDL/BLS/LEM: 5 itens · R$ 0,90 mi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8174736" y="5888736"/>
            <a:ext cx="1737360" cy="329184"/>
          </a:xfrm>
          <a:prstGeom prst="roundRect">
            <a:avLst>
              <a:gd name="adj" fmla="val 11111"/>
            </a:avLst>
          </a:prstGeom>
          <a:solidFill>
            <a:srgbClr val="CC5121">
              <a:alpha val="90000"/>
            </a:srgbClr>
          </a:solidFill>
          <a:ln w="12700">
            <a:solidFill>
              <a:srgbClr val="CC512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1" name="Text 89"/>
          <p:cNvSpPr/>
          <p:nvPr/>
        </p:nvSpPr>
        <p:spPr>
          <a:xfrm>
            <a:off x="8174736" y="58887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SUBSTITUICAO IMEDIATA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0058400" y="1627632"/>
            <a:ext cx="1920240" cy="4681728"/>
          </a:xfrm>
          <a:prstGeom prst="rect">
            <a:avLst/>
          </a:prstGeom>
          <a:solidFill>
            <a:srgbClr val="FFF8EB"/>
          </a:solidFill>
          <a:ln w="12700">
            <a:solidFill>
              <a:srgbClr val="D97706">
                <a:alpha val="45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3" name="Shape 91"/>
          <p:cNvSpPr/>
          <p:nvPr/>
        </p:nvSpPr>
        <p:spPr>
          <a:xfrm>
            <a:off x="10058400" y="1627632"/>
            <a:ext cx="192024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4" name="Text 92"/>
          <p:cNvSpPr/>
          <p:nvPr/>
        </p:nvSpPr>
        <p:spPr>
          <a:xfrm>
            <a:off x="10149840" y="16367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95" name="Text 93"/>
          <p:cNvSpPr/>
          <p:nvPr/>
        </p:nvSpPr>
        <p:spPr>
          <a:xfrm>
            <a:off x="11064240" y="17556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3,4%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10149840" y="2139696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Degradação</a:t>
            </a:r>
            <a:endParaRPr lang="en-US" sz="1050" dirty="0"/>
          </a:p>
        </p:txBody>
      </p:sp>
      <p:sp>
        <p:nvSpPr>
          <p:cNvPr id="97" name="Text 95"/>
          <p:cNvSpPr/>
          <p:nvPr/>
        </p:nvSpPr>
        <p:spPr>
          <a:xfrm>
            <a:off x="10149840" y="237744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Antichama 2ª linha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10149840" y="2670048"/>
            <a:ext cx="1737360" cy="18288"/>
          </a:xfrm>
          <a:prstGeom prst="rect">
            <a:avLst/>
          </a:prstGeom>
          <a:solidFill>
            <a:srgbClr val="D97706">
              <a:alpha val="45000"/>
            </a:srgbClr>
          </a:solidFill>
          <a:ln w="12700">
            <a:solidFill>
              <a:srgbClr val="D9770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9" name="Text 97"/>
          <p:cNvSpPr/>
          <p:nvPr/>
        </p:nvSpPr>
        <p:spPr>
          <a:xfrm>
            <a:off x="10149840" y="2724912"/>
            <a:ext cx="1792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antichama (2ª linha), mas com degradação prematura. Substituição por condição física, não por falha no ensaio.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10149840" y="3831336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1" name="Text 99"/>
          <p:cNvSpPr/>
          <p:nvPr/>
        </p:nvSpPr>
        <p:spPr>
          <a:xfrm>
            <a:off x="10259568" y="3767328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Aprovadas no ensaio ISO 340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10149840" y="4160520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3" name="Text 101"/>
          <p:cNvSpPr/>
          <p:nvPr/>
        </p:nvSpPr>
        <p:spPr>
          <a:xfrm>
            <a:off x="10259568" y="409651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Degradação física prematura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10149840" y="4489704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5" name="Text 103"/>
          <p:cNvSpPr/>
          <p:nvPr/>
        </p:nvSpPr>
        <p:spPr>
          <a:xfrm>
            <a:off x="10259568" y="4425696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Substituição</a:t>
            </a: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sendo</a:t>
            </a: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programada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10149840" y="5888736"/>
            <a:ext cx="1737360" cy="329184"/>
          </a:xfrm>
          <a:prstGeom prst="roundRect">
            <a:avLst>
              <a:gd name="adj" fmla="val 11111"/>
            </a:avLst>
          </a:prstGeom>
          <a:solidFill>
            <a:srgbClr val="D97706">
              <a:alpha val="90000"/>
            </a:srgbClr>
          </a:solidFill>
          <a:ln w="12700">
            <a:solidFill>
              <a:srgbClr val="D9770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7" name="Text 105"/>
          <p:cNvSpPr/>
          <p:nvPr/>
        </p:nvSpPr>
        <p:spPr>
          <a:xfrm>
            <a:off x="10149840" y="58887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PROG. SUBSTITUICAO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182880" y="6419088"/>
            <a:ext cx="11795760" cy="201168"/>
          </a:xfrm>
          <a:prstGeom prst="rect">
            <a:avLst/>
          </a:prstGeom>
          <a:solidFill>
            <a:srgbClr val="E4EAF5"/>
          </a:solidFill>
          <a:ln w="12700">
            <a:solidFill>
              <a:srgbClr val="124E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9" name="Text 107"/>
          <p:cNvSpPr/>
          <p:nvPr/>
        </p:nvSpPr>
        <p:spPr>
          <a:xfrm>
            <a:off x="219456" y="6419088"/>
            <a:ext cx="1172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24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 normativo: correia antichama deve ter identificação visual impressa na própria correia — sem ela, classifica-se como 2ª linha independentemente de laudo ou ensaio aprovado.  ·  R$ 6,15M base histórico — Suprimentos orçando valores atuais.  ·  Laudo Flexlab: Rel. 0397/26.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124E81"/>
          </a:solidFill>
          <a:ln w="12700">
            <a:solidFill>
              <a:srgbClr val="124E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1" name="Text 109"/>
          <p:cNvSpPr/>
          <p:nvPr/>
        </p:nvSpPr>
        <p:spPr>
          <a:xfrm>
            <a:off x="182880" y="6693408"/>
            <a:ext cx="1179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BDBF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INPASA Agroindustrial S/A · VP Manutenção e Obras · Confidencial · APR_MULTI_GERAL_CorreiasAntichama_2026-06-08_v04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21792"/>
          </a:xfrm>
          <a:prstGeom prst="rect">
            <a:avLst/>
          </a:prstGeom>
          <a:solidFill>
            <a:srgbClr val="124E81"/>
          </a:solidFill>
          <a:ln w="12700">
            <a:solidFill>
              <a:srgbClr val="124E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21792"/>
          </a:xfrm>
          <a:prstGeom prst="rect">
            <a:avLst/>
          </a:prstGeom>
          <a:solidFill>
            <a:srgbClr val="FFA32A"/>
          </a:solidFill>
          <a:ln w="12700">
            <a:solidFill>
              <a:srgbClr val="FFA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9601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Ação — Correias Não Conformes (46 CTEs · R$ 6,15 milhões)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966960" y="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DBF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INPASA · Jun/2026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749808"/>
            <a:ext cx="2249424" cy="859536"/>
          </a:xfrm>
          <a:prstGeom prst="rect">
            <a:avLst/>
          </a:prstGeom>
          <a:solidFill>
            <a:srgbClr val="CC5121">
              <a:alpha val="92000"/>
            </a:srgbClr>
          </a:solidFill>
          <a:ln w="12700">
            <a:solidFill>
              <a:srgbClr val="CC512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82880" y="786384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" y="1207008"/>
            <a:ext cx="2249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Correias a substituir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42032" y="749808"/>
            <a:ext cx="2249424" cy="859536"/>
          </a:xfrm>
          <a:prstGeom prst="rect">
            <a:avLst/>
          </a:prstGeom>
          <a:solidFill>
            <a:srgbClr val="124E81">
              <a:alpha val="92000"/>
            </a:srgbClr>
          </a:solidFill>
          <a:ln w="12700">
            <a:solidFill>
              <a:srgbClr val="124E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542032" y="786384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R$ 6,15M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42032" y="1207008"/>
            <a:ext cx="2249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</a:t>
            </a:r>
            <a:r>
              <a:rPr lang="en-US" sz="9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01184" y="749808"/>
            <a:ext cx="2249424" cy="859536"/>
          </a:xfrm>
          <a:prstGeom prst="rect">
            <a:avLst/>
          </a:prstGeom>
          <a:solidFill>
            <a:srgbClr val="D97706">
              <a:alpha val="92000"/>
            </a:srgbClr>
          </a:solidFill>
          <a:ln w="12700">
            <a:solidFill>
              <a:srgbClr val="D9770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901184" y="786384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R$ 3,55M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01184" y="1207008"/>
            <a:ext cx="2249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SNP — 21 itens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260336" y="749808"/>
            <a:ext cx="2249424" cy="859536"/>
          </a:xfrm>
          <a:prstGeom prst="rect">
            <a:avLst/>
          </a:prstGeom>
          <a:solidFill>
            <a:srgbClr val="D97706">
              <a:alpha val="92000"/>
            </a:srgbClr>
          </a:solidFill>
          <a:ln w="12700">
            <a:solidFill>
              <a:srgbClr val="D9770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260336" y="786384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R$ 1,70M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260336" y="1207008"/>
            <a:ext cx="2249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NMT — 15 itens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619488" y="749808"/>
            <a:ext cx="2249424" cy="859536"/>
          </a:xfrm>
          <a:prstGeom prst="rect">
            <a:avLst/>
          </a:prstGeom>
          <a:solidFill>
            <a:srgbClr val="D97706">
              <a:alpha val="92000"/>
            </a:srgbClr>
          </a:solidFill>
          <a:ln w="12700">
            <a:solidFill>
              <a:srgbClr val="D9770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9619488" y="786384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R$ 0,90M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619488" y="1207008"/>
            <a:ext cx="2249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SDL / BLS / LEM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" y="1773936"/>
            <a:ext cx="5614416" cy="402336"/>
          </a:xfrm>
          <a:prstGeom prst="rect">
            <a:avLst/>
          </a:prstGeom>
          <a:solidFill>
            <a:srgbClr val="124E81"/>
          </a:solidFill>
          <a:ln w="12700">
            <a:solidFill>
              <a:srgbClr val="124E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82880" y="1773936"/>
            <a:ext cx="5614416" cy="402336"/>
          </a:xfrm>
          <a:prstGeom prst="rect">
            <a:avLst/>
          </a:prstGeom>
          <a:noFill/>
          <a:ln/>
        </p:spPr>
        <p:txBody>
          <a:bodyPr wrap="square" lIns="0" tIns="177800" rIns="17780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MANUTENÇÂO  —  Mitigação Imediata em Campo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82880" y="2176272"/>
            <a:ext cx="5614416" cy="3566160"/>
          </a:xfrm>
          <a:prstGeom prst="rect">
            <a:avLst/>
          </a:prstGeom>
          <a:solidFill>
            <a:srgbClr val="F5F7FA"/>
          </a:solidFill>
          <a:ln w="12700">
            <a:solidFill>
              <a:srgbClr val="BDBFC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310896" y="2286000"/>
            <a:ext cx="310896" cy="310896"/>
          </a:xfrm>
          <a:prstGeom prst="ellipse">
            <a:avLst/>
          </a:prstGeom>
          <a:solidFill>
            <a:srgbClr val="124E81"/>
          </a:solidFill>
          <a:ln w="12700">
            <a:solidFill>
              <a:srgbClr val="124E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310896" y="2286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4944" y="2231136"/>
            <a:ext cx="5010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4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Avaliar risco operacional imediato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" y="2468880"/>
            <a:ext cx="50109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Classificar as 46 CTEs por criticidade (área, volume, exposição) e definir sequência de substituição.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0896" y="3127248"/>
            <a:ext cx="310896" cy="310896"/>
          </a:xfrm>
          <a:prstGeom prst="ellipse">
            <a:avLst/>
          </a:prstGeom>
          <a:solidFill>
            <a:srgbClr val="124E81"/>
          </a:solidFill>
          <a:ln w="12700">
            <a:solidFill>
              <a:srgbClr val="124E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310896" y="31272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4944" y="3072384"/>
            <a:ext cx="5010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24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Sinalizar</a:t>
            </a:r>
            <a:r>
              <a:rPr lang="en-US" sz="1000" b="1" dirty="0">
                <a:solidFill>
                  <a:srgbClr val="124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4944" y="3310128"/>
            <a:ext cx="50109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Etiquetar as correias reprovadas em campo com identificação de risco. 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10896" y="3968496"/>
            <a:ext cx="310896" cy="310896"/>
          </a:xfrm>
          <a:prstGeom prst="ellipse">
            <a:avLst/>
          </a:prstGeom>
          <a:solidFill>
            <a:srgbClr val="124E81"/>
          </a:solidFill>
          <a:ln w="12700">
            <a:solidFill>
              <a:srgbClr val="124E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310896" y="3968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4944" y="3913632"/>
            <a:ext cx="5010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4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reforçado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4944" y="4151376"/>
            <a:ext cx="50109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Monitorar</a:t>
            </a: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CTEs não conformes até conclusão das substituições.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10896" y="4809744"/>
            <a:ext cx="310896" cy="310896"/>
          </a:xfrm>
          <a:prstGeom prst="ellipse">
            <a:avLst/>
          </a:prstGeom>
          <a:solidFill>
            <a:srgbClr val="124E81"/>
          </a:solidFill>
          <a:ln w="12700">
            <a:solidFill>
              <a:srgbClr val="124E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310896" y="48097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4944" y="4754880"/>
            <a:ext cx="5010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4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Coordenar janelas de parada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4944" y="4992624"/>
            <a:ext cx="50109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Alinhar com operação as janelas de manutenção para substituição sem impacto ao plano de produção.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943600" y="1773936"/>
            <a:ext cx="6035040" cy="402336"/>
          </a:xfrm>
          <a:prstGeom prst="rect">
            <a:avLst/>
          </a:prstGeom>
          <a:solidFill>
            <a:srgbClr val="CC5121"/>
          </a:solidFill>
          <a:ln w="12700">
            <a:solidFill>
              <a:srgbClr val="CC512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5943600" y="1773936"/>
            <a:ext cx="6035040" cy="402336"/>
          </a:xfrm>
          <a:prstGeom prst="rect">
            <a:avLst/>
          </a:prstGeom>
          <a:noFill/>
          <a:ln/>
        </p:spPr>
        <p:txBody>
          <a:bodyPr wrap="square" lIns="0" tIns="177800" rIns="17780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SUPRIMENTOS &amp; ENGENHARIA  —  Processo de Aquisição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943600" y="2176272"/>
            <a:ext cx="6035040" cy="3566160"/>
          </a:xfrm>
          <a:prstGeom prst="rect">
            <a:avLst/>
          </a:prstGeom>
          <a:solidFill>
            <a:srgbClr val="FEF8F5"/>
          </a:solidFill>
          <a:ln w="12700">
            <a:solidFill>
              <a:srgbClr val="BDBFC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6071616" y="2286000"/>
            <a:ext cx="310896" cy="310896"/>
          </a:xfrm>
          <a:prstGeom prst="ellipse">
            <a:avLst/>
          </a:prstGeom>
          <a:solidFill>
            <a:srgbClr val="CC5121"/>
          </a:solidFill>
          <a:ln w="12700">
            <a:solidFill>
              <a:srgbClr val="CC512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6071616" y="2286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55664" y="2231136"/>
            <a:ext cx="5431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5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Acionar fornecedor (Mapri Rol — 1ª agenda)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55664" y="2468880"/>
            <a:ext cx="54315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Hugo (Suprimentos) </a:t>
            </a:r>
            <a:r>
              <a:rPr lang="en-US" sz="90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coordenando</a:t>
            </a: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substituição</a:t>
            </a: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 </a:t>
            </a:r>
            <a:r>
              <a:rPr lang="en-US" sz="90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garantia</a:t>
            </a: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das 46 </a:t>
            </a:r>
            <a:r>
              <a:rPr lang="en-US" sz="90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</a:t>
            </a: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reposição</a:t>
            </a: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José Carlos (</a:t>
            </a:r>
            <a:r>
              <a:rPr lang="en-US" sz="90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</a:t>
            </a: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r>
              <a:rPr lang="en-US" sz="90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Correias</a:t>
            </a: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90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novos</a:t>
            </a: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projetos</a:t>
            </a: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900" b="1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Alinhamento</a:t>
            </a: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entrega antichama correta e ressarcimento</a:t>
            </a: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071616" y="3127248"/>
            <a:ext cx="310896" cy="310896"/>
          </a:xfrm>
          <a:prstGeom prst="ellipse">
            <a:avLst/>
          </a:prstGeom>
          <a:solidFill>
            <a:srgbClr val="CC5121"/>
          </a:solidFill>
          <a:ln w="12700">
            <a:solidFill>
              <a:srgbClr val="CC512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6071616" y="31272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55664" y="3072384"/>
            <a:ext cx="5431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5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Rastrear compras especificadas como antichama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55664" y="3310128"/>
            <a:ext cx="54315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quais das 46 foram compradas com spec antichama. Acionar contratualmente para reposição sem custo.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71616" y="3968496"/>
            <a:ext cx="310896" cy="310896"/>
          </a:xfrm>
          <a:prstGeom prst="ellipse">
            <a:avLst/>
          </a:prstGeom>
          <a:solidFill>
            <a:srgbClr val="CC5121"/>
          </a:solidFill>
          <a:ln w="12700">
            <a:solidFill>
              <a:srgbClr val="CC512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6071616" y="3968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455664" y="3913632"/>
            <a:ext cx="5431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5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Avaliar fornecedores alternativos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455664" y="4151376"/>
            <a:ext cx="54315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 multi-fornecedor. Referência: </a:t>
            </a:r>
            <a:r>
              <a:rPr lang="en-US" sz="90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Avaliar</a:t>
            </a: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distribuidor</a:t>
            </a: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Continental  se </a:t>
            </a:r>
            <a:r>
              <a:rPr lang="en-US" sz="90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</a:t>
            </a: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homologado</a:t>
            </a: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(maior volume do grupo, sem reprovações).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071616" y="48097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124E81"/>
          </a:solidFill>
          <a:ln w="12700">
            <a:solidFill>
              <a:srgbClr val="124E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182880" y="6693408"/>
            <a:ext cx="1179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BDBF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INPASA Agroindustrial S/A · VP Manutenção e Obras · Confidencial · APR_MULTI_GERAL_CorreiasAntichama_2026-06-08_v04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733</Words>
  <Application>Microsoft Macintosh PowerPoint</Application>
  <PresentationFormat>Widescreen</PresentationFormat>
  <Paragraphs>110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Itiel Cerkunvis Goncalves</cp:lastModifiedBy>
  <cp:revision>4</cp:revision>
  <dcterms:created xsi:type="dcterms:W3CDTF">2026-06-08T22:00:19Z</dcterms:created>
  <dcterms:modified xsi:type="dcterms:W3CDTF">2026-06-08T22:17:50Z</dcterms:modified>
</cp:coreProperties>
</file>