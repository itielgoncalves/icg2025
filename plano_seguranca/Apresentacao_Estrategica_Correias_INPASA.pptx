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FFA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EAA239"/>
                </a:solidFill>
                <a:latin typeface="Montserrat"/>
              </a:rPr>
              <a:t>APRESENTAÇÃO À DIRETORIA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607040" cy="1645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Montserrat"/>
              </a:rPr>
              <a:t>Plano de Substituição de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Montserrat"/>
              </a:rPr>
              <a:t>Correias Transportadoras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10607040" cy="8229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7D6E6"/>
                </a:solidFill>
                <a:latin typeface="Montserrat"/>
              </a:rPr>
              <a:t>Status do programa e cronograma de regularização por unidade</a:t>
            </a:r>
          </a:p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7D6E6"/>
                </a:solidFill>
                <a:latin typeface="Montserrat"/>
              </a:rPr>
              <a:t>Nova Mutum · Sinop · Sidrolândia · Balsas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257800"/>
            <a:ext cx="2743200" cy="25400"/>
          </a:xfrm>
          <a:prstGeom prst="rect">
            <a:avLst/>
          </a:prstGeom>
          <a:solidFill>
            <a:srgbClr val="FFA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44068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800" b="1" i="1">
                <a:solidFill>
                  <a:srgbClr val="EAA239"/>
                </a:solidFill>
                <a:latin typeface="Montserrat"/>
              </a:rPr>
              <a:t>MAIS QUE ENERGIA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0" i="0">
                <a:solidFill>
                  <a:srgbClr val="9FB4C9"/>
                </a:solidFill>
                <a:latin typeface="Montserrat"/>
              </a:rPr>
              <a:t>Base: levantamento FLEXLAB (jun/2026) + plano de execução  |  ref. 02/07/2026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A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EAA239"/>
                </a:solidFill>
                <a:latin typeface="Montserrat"/>
              </a:rPr>
              <a:t>A PERGUNTA DA DIRETORIA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1155680" cy="566928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Montserrat"/>
              </a:rPr>
              <a:t>Quando cada unidade estará regularizada?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11201400" cy="731520"/>
          </a:xfrm>
          <a:prstGeom prst="roundRect">
            <a:avLst/>
          </a:prstGeom>
          <a:solidFill>
            <a:srgbClr val="F2F5F8"/>
          </a:solidFill>
          <a:ln w="15875">
            <a:solidFill>
              <a:srgbClr val="124E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789920" cy="73152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500" b="1" i="0">
                <a:solidFill>
                  <a:srgbClr val="124E81"/>
                </a:solidFill>
                <a:latin typeface="Montserrat"/>
              </a:rPr>
              <a:t>Programa concluído em 30/12/2026    |    46 correias · 3 concluídas · 7 urgentes (&lt;=30 dias) · 0 vencidas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2697480" cy="292608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2697480" cy="118872"/>
          </a:xfrm>
          <a:prstGeom prst="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60320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124E81"/>
                </a:solidFill>
                <a:latin typeface="Montserrat"/>
              </a:rPr>
              <a:t>NMT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871216"/>
            <a:ext cx="233172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20303F"/>
                </a:solidFill>
                <a:latin typeface="Montserrat"/>
              </a:rPr>
              <a:t>Nova Mutum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64992"/>
            <a:ext cx="233172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00" b="1" i="0">
                <a:solidFill>
                  <a:srgbClr val="6B7885"/>
                </a:solidFill>
                <a:latin typeface="Montserrat"/>
              </a:rPr>
              <a:t>CONCLUÍDA 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611880"/>
            <a:ext cx="233172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200" b="1" i="0">
                <a:solidFill>
                  <a:srgbClr val="124E81"/>
                </a:solidFill>
                <a:latin typeface="Montserrat"/>
              </a:rPr>
              <a:t>22/10/2026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206240"/>
            <a:ext cx="233172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0303F"/>
                </a:solidFill>
                <a:latin typeface="Montserrat"/>
              </a:rPr>
              <a:t>16 correias no plano; 1 concluída. Última substituição em 22/10/2026.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9272" y="2286000"/>
            <a:ext cx="2697480" cy="292608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19272" y="2286000"/>
            <a:ext cx="2697480" cy="118872"/>
          </a:xfrm>
          <a:prstGeom prst="rect">
            <a:avLst/>
          </a:prstGeom>
          <a:solidFill>
            <a:srgbClr val="EAA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02152" y="2560320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EAA239"/>
                </a:solidFill>
                <a:latin typeface="Montserrat"/>
              </a:rPr>
              <a:t>SNP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2152" y="2871216"/>
            <a:ext cx="233172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20303F"/>
                </a:solidFill>
                <a:latin typeface="Montserrat"/>
              </a:rPr>
              <a:t>Sinop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2152" y="3364992"/>
            <a:ext cx="233172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00" b="1" i="0">
                <a:solidFill>
                  <a:srgbClr val="6B7885"/>
                </a:solidFill>
                <a:latin typeface="Montserrat"/>
              </a:rPr>
              <a:t>CONCLUÍDA 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2152" y="3611880"/>
            <a:ext cx="233172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200" b="1" i="0">
                <a:solidFill>
                  <a:srgbClr val="EAA239"/>
                </a:solidFill>
                <a:latin typeface="Montserrat"/>
              </a:rPr>
              <a:t>30/12/2026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2152" y="4206240"/>
            <a:ext cx="233172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0303F"/>
                </a:solidFill>
                <a:latin typeface="Montserrat"/>
              </a:rPr>
              <a:t>23 correias no plano; 1 concluída. Última em 30/12/2026 (esteiras de cavacos).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35624" y="2286000"/>
            <a:ext cx="2697480" cy="292608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35624" y="2286000"/>
            <a:ext cx="2697480" cy="118872"/>
          </a:xfrm>
          <a:prstGeom prst="rect">
            <a:avLst/>
          </a:prstGeom>
          <a:solidFill>
            <a:srgbClr val="007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560320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007D77"/>
                </a:solidFill>
                <a:latin typeface="Montserrat"/>
              </a:rPr>
              <a:t>SDR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2871216"/>
            <a:ext cx="233172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20303F"/>
                </a:solidFill>
                <a:latin typeface="Montserrat"/>
              </a:rPr>
              <a:t>Sidrolândia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3364992"/>
            <a:ext cx="233172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00" b="1" i="0">
                <a:solidFill>
                  <a:srgbClr val="6B7885"/>
                </a:solidFill>
                <a:latin typeface="Montserrat"/>
              </a:rPr>
              <a:t>CONCLUÍDA 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611880"/>
            <a:ext cx="233172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200" b="1" i="0">
                <a:solidFill>
                  <a:srgbClr val="007D77"/>
                </a:solidFill>
                <a:latin typeface="Montserrat"/>
              </a:rPr>
              <a:t>30/09/2026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206240"/>
            <a:ext cx="233172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0303F"/>
                </a:solidFill>
                <a:latin typeface="Montserrat"/>
              </a:rPr>
              <a:t>2 correias no plano. Ambas concluídas até 30/09/2026.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51976" y="2286000"/>
            <a:ext cx="2697480" cy="292608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51976" y="2286000"/>
            <a:ext cx="2697480" cy="118872"/>
          </a:xfrm>
          <a:prstGeom prst="rect">
            <a:avLst/>
          </a:prstGeom>
          <a:solidFill>
            <a:srgbClr val="007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34856" y="2560320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007CC5"/>
                </a:solidFill>
                <a:latin typeface="Montserrat"/>
              </a:rPr>
              <a:t>BLS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4856" y="2871216"/>
            <a:ext cx="233172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20303F"/>
                </a:solidFill>
                <a:latin typeface="Montserrat"/>
              </a:rPr>
              <a:t>Balsas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34856" y="3364992"/>
            <a:ext cx="233172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00" b="1" i="0">
                <a:solidFill>
                  <a:srgbClr val="6B7885"/>
                </a:solidFill>
                <a:latin typeface="Montserrat"/>
              </a:rPr>
              <a:t>CONCLUÍDA 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4856" y="3611880"/>
            <a:ext cx="233172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200" b="1" i="0">
                <a:solidFill>
                  <a:srgbClr val="007CC5"/>
                </a:solidFill>
                <a:latin typeface="Montserrat"/>
              </a:rPr>
              <a:t>24/07/2026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34856" y="4206240"/>
            <a:ext cx="233172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0303F"/>
                </a:solidFill>
                <a:latin typeface="Montserrat"/>
              </a:rPr>
              <a:t>4 esteiras + 1 sobressalente; 1 concluída. Esteiras concluídas até 24/07/2026.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19088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 i="0">
                <a:solidFill>
                  <a:srgbClr val="6B7885"/>
                </a:solidFill>
                <a:latin typeface="Montserrat"/>
              </a:rPr>
              <a:t>INPASA Agroindustrial S/A  ·  Manutenção &amp; Automação  ·  ref. 02/07/2026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 i="0">
                <a:solidFill>
                  <a:srgbClr val="6B7885"/>
                </a:solidFill>
                <a:latin typeface="Montserrat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A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EAA239"/>
                </a:solidFill>
                <a:latin typeface="Montserrat"/>
              </a:rPr>
              <a:t>LINHA DO TEMPO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1155680" cy="566928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Montserrat"/>
              </a:rPr>
              <a:t>Marcos de conclusão (jul → dez/2026)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2377440" y="1600200"/>
            <a:ext cx="12700" cy="4023360"/>
          </a:xfrm>
          <a:prstGeom prst="rect">
            <a:avLst/>
          </a:prstGeom>
          <a:solidFill>
            <a:srgbClr val="BDB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0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124E81"/>
                </a:solidFill>
                <a:latin typeface="Montserrat"/>
              </a:rPr>
              <a:t>Jul</a:t>
            </a:r>
          </a:p>
        </p:txBody>
      </p:sp>
      <p:sp>
        <p:nvSpPr>
          <p:cNvPr id="9" name="Rectangle 8"/>
          <p:cNvSpPr/>
          <p:nvPr/>
        </p:nvSpPr>
        <p:spPr>
          <a:xfrm>
            <a:off x="3910933" y="1600200"/>
            <a:ext cx="12700" cy="4023360"/>
          </a:xfrm>
          <a:prstGeom prst="rect">
            <a:avLst/>
          </a:prstGeom>
          <a:solidFill>
            <a:srgbClr val="BDB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10933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124E81"/>
                </a:solidFill>
                <a:latin typeface="Montserrat"/>
              </a:rPr>
              <a:t>Ago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44427" y="1600200"/>
            <a:ext cx="12700" cy="4023360"/>
          </a:xfrm>
          <a:prstGeom prst="rect">
            <a:avLst/>
          </a:prstGeom>
          <a:solidFill>
            <a:srgbClr val="BDB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4427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124E81"/>
                </a:solidFill>
                <a:latin typeface="Montserrat"/>
              </a:rPr>
              <a:t>Set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28453" y="1600200"/>
            <a:ext cx="12700" cy="4023360"/>
          </a:xfrm>
          <a:prstGeom prst="rect">
            <a:avLst/>
          </a:prstGeom>
          <a:solidFill>
            <a:srgbClr val="BDB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28453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124E81"/>
                </a:solidFill>
                <a:latin typeface="Montserrat"/>
              </a:rPr>
              <a:t>Out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61947" y="1600200"/>
            <a:ext cx="12700" cy="4023360"/>
          </a:xfrm>
          <a:prstGeom prst="rect">
            <a:avLst/>
          </a:prstGeom>
          <a:solidFill>
            <a:srgbClr val="BDB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1947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124E81"/>
                </a:solidFill>
                <a:latin typeface="Montserrat"/>
              </a:rPr>
              <a:t>Nov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45973" y="1600200"/>
            <a:ext cx="12700" cy="4023360"/>
          </a:xfrm>
          <a:prstGeom prst="rect">
            <a:avLst/>
          </a:prstGeom>
          <a:solidFill>
            <a:srgbClr val="BDB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45973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124E81"/>
                </a:solidFill>
                <a:latin typeface="Montserrat"/>
              </a:rPr>
              <a:t>Dez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6907" y="1874520"/>
            <a:ext cx="25400" cy="3703320"/>
          </a:xfrm>
          <a:prstGeom prst="rect">
            <a:avLst/>
          </a:prstGeom>
          <a:solidFill>
            <a:srgbClr val="CC5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52587" y="1618488"/>
            <a:ext cx="1097280" cy="25603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00" b="1" i="0">
                <a:solidFill>
                  <a:srgbClr val="CC5121"/>
                </a:solidFill>
                <a:latin typeface="Montserrat"/>
              </a:rPr>
              <a:t>HOJE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103120"/>
            <a:ext cx="1783080" cy="8686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124E81"/>
                </a:solidFill>
                <a:latin typeface="Montserrat"/>
              </a:rPr>
              <a:t>NMT · Nova Mutum</a:t>
            </a:r>
          </a:p>
          <a:p>
            <a:pPr algn="l"/>
            <a:r>
              <a:rPr sz="1100" b="1" i="0">
                <a:solidFill>
                  <a:srgbClr val="124E81"/>
                </a:solidFill>
                <a:latin typeface="Montserrat"/>
              </a:rPr>
              <a:t>16 correias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77440" y="2304288"/>
            <a:ext cx="5589832" cy="384048"/>
          </a:xfrm>
          <a:prstGeom prst="round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8712" y="2286000"/>
            <a:ext cx="1645920" cy="4114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20303F"/>
                </a:solidFill>
                <a:latin typeface="Montserrat"/>
              </a:rPr>
              <a:t>22/10/2026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2971800"/>
            <a:ext cx="1783080" cy="8686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EAA239"/>
                </a:solidFill>
                <a:latin typeface="Montserrat"/>
              </a:rPr>
              <a:t>SNP · Sinop</a:t>
            </a:r>
          </a:p>
          <a:p>
            <a:pPr algn="l"/>
            <a:r>
              <a:rPr sz="1100" b="1" i="0">
                <a:solidFill>
                  <a:srgbClr val="EAA239"/>
                </a:solidFill>
                <a:latin typeface="Montserrat"/>
              </a:rPr>
              <a:t>23 correias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77440" y="3172968"/>
            <a:ext cx="9003092" cy="384048"/>
          </a:xfrm>
          <a:prstGeom prst="roundRect">
            <a:avLst/>
          </a:prstGeom>
          <a:solidFill>
            <a:srgbClr val="EAA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71972" y="3154680"/>
            <a:ext cx="1645920" cy="4114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20303F"/>
                </a:solidFill>
                <a:latin typeface="Montserrat"/>
              </a:rPr>
              <a:t>30/12/2026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840480"/>
            <a:ext cx="1783080" cy="8686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007D77"/>
                </a:solidFill>
                <a:latin typeface="Montserrat"/>
              </a:rPr>
              <a:t>SDR · Sidrolândia</a:t>
            </a:r>
          </a:p>
          <a:p>
            <a:pPr algn="l"/>
            <a:r>
              <a:rPr sz="1100" b="1" i="0">
                <a:solidFill>
                  <a:srgbClr val="007D77"/>
                </a:solidFill>
                <a:latin typeface="Montserrat"/>
              </a:rPr>
              <a:t>2 correias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77440" y="4041648"/>
            <a:ext cx="4501546" cy="384048"/>
          </a:xfrm>
          <a:prstGeom prst="roundRect">
            <a:avLst/>
          </a:prstGeom>
          <a:solidFill>
            <a:srgbClr val="007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0426" y="4023360"/>
            <a:ext cx="1645920" cy="4114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20303F"/>
                </a:solidFill>
                <a:latin typeface="Montserrat"/>
              </a:rPr>
              <a:t>30/09/2026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709160"/>
            <a:ext cx="1783080" cy="8686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007CC5"/>
                </a:solidFill>
                <a:latin typeface="Montserrat"/>
              </a:rPr>
              <a:t>BLS · Balsas</a:t>
            </a:r>
          </a:p>
          <a:p>
            <a:pPr algn="l"/>
            <a:r>
              <a:rPr sz="1100" b="1" i="0">
                <a:solidFill>
                  <a:srgbClr val="007CC5"/>
                </a:solidFill>
                <a:latin typeface="Montserrat"/>
              </a:rPr>
              <a:t>5 correias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77440" y="4910328"/>
            <a:ext cx="1137753" cy="384048"/>
          </a:xfrm>
          <a:prstGeom prst="roundRect">
            <a:avLst/>
          </a:prstGeom>
          <a:solidFill>
            <a:srgbClr val="007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06633" y="4892040"/>
            <a:ext cx="1645920" cy="4114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20303F"/>
                </a:solidFill>
                <a:latin typeface="Montserrat"/>
              </a:rPr>
              <a:t>24/07/2026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9436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124E81"/>
                </a:solidFill>
                <a:latin typeface="Montserrat"/>
              </a:rPr>
              <a:t>Conclusão de todo o programa: 30/12/2026 (última — Sinop, esteiras de cavacos da biomassa).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19088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 i="0">
                <a:solidFill>
                  <a:srgbClr val="6B7885"/>
                </a:solidFill>
                <a:latin typeface="Montserrat"/>
              </a:rPr>
              <a:t>INPASA Agroindustrial S/A  ·  Manutenção &amp; Automação  ·  ref. 02/07/2026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 i="0">
                <a:solidFill>
                  <a:srgbClr val="6B7885"/>
                </a:solidFill>
                <a:latin typeface="Montserrat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A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EAA239"/>
                </a:solidFill>
                <a:latin typeface="Montserrat"/>
              </a:rPr>
              <a:t>CONSISTÊNCIA DOS NÚMEROS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1155680" cy="566928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Montserrat"/>
              </a:rPr>
              <a:t>Reconciliação: levantamento × execução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5486400" cy="434340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124E81"/>
                </a:solidFill>
                <a:latin typeface="Montserrat"/>
              </a:rPr>
              <a:t>Levantamento FLEXLAB (jun/2026)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20303F"/>
                </a:solidFill>
                <a:latin typeface="Montserrat"/>
              </a:rPr>
              <a:t>•  148 correias auditadas no grupo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70632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6B7885"/>
                </a:solidFill>
                <a:latin typeface="Montserrat"/>
              </a:rPr>
              <a:t>102 mantidas em operação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92424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20303F"/>
                </a:solidFill>
                <a:latin typeface="Montserrat"/>
              </a:rPr>
              <a:t>•  46 a substituir  →  R$ 6,15 mi (só correias)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14216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6B7885"/>
                </a:solidFill>
                <a:latin typeface="Montserrat"/>
              </a:rPr>
              <a:t>   • 41 reprovadas no ensaio ISO 340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36008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6B7885"/>
                </a:solidFill>
                <a:latin typeface="Montserrat"/>
              </a:rPr>
              <a:t>   • 5 por degradação física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486400" cy="434340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60020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609346"/>
                </a:solidFill>
                <a:latin typeface="Montserrat"/>
              </a:rPr>
              <a:t>Plano de execução (dashboard atual)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148840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20303F"/>
                </a:solidFill>
                <a:latin typeface="Montserrat"/>
              </a:rPr>
              <a:t>•  46 correias no plano  ✓ bate com as 46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770632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6B7885"/>
                </a:solidFill>
                <a:latin typeface="Montserrat"/>
              </a:rPr>
              <a:t>   • 3 já concluídas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392424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6B7885"/>
                </a:solidFill>
                <a:latin typeface="Montserrat"/>
              </a:rPr>
              <a:t>   • 43 em execução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014216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20303F"/>
                </a:solidFill>
                <a:latin typeface="Montserrat"/>
              </a:rPr>
              <a:t>•  Conclusão: 30/12/2026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636008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6B7885"/>
                </a:solidFill>
                <a:latin typeface="Montserrat"/>
              </a:rPr>
              <a:t>0 correias vencidas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80644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50" b="0" i="0">
                <a:solidFill>
                  <a:srgbClr val="CC5121"/>
                </a:solidFill>
                <a:latin typeface="Montserrat"/>
              </a:rPr>
              <a:t>Obs.: R$ 6,15 mi = somente as correias (material) — montagem com mão de obra interna, apenas vulcanização externa · Dourados (DRD) e LEM sem pendências (fora do escopo) · cadastro do dashboard usa NVM/SDL → padronizar p/ NMT/SDR · 1 dos 46 é sobressalente em estoque (45 esteiras físicas).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 i="0">
                <a:solidFill>
                  <a:srgbClr val="6B7885"/>
                </a:solidFill>
                <a:latin typeface="Montserrat"/>
              </a:rPr>
              <a:t>INPASA Agroindustrial S/A  ·  Manutenção &amp; Automação  ·  ref. 02/07/2026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 i="0">
                <a:solidFill>
                  <a:srgbClr val="6B7885"/>
                </a:solidFill>
                <a:latin typeface="Montserrat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A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EAA239"/>
                </a:solidFill>
                <a:latin typeface="Montserrat"/>
              </a:rPr>
              <a:t>DECISÃO E 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1155680" cy="566928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Montserrat"/>
              </a:rPr>
              <a:t>Cuidado especial até concluir a substituição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5486400" cy="434340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600" b="1" i="0">
                <a:solidFill>
                  <a:srgbClr val="CC5121"/>
                </a:solidFill>
                <a:latin typeface="Montserrat"/>
              </a:rPr>
              <a:t>Pontos de atenção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7 correias urgentes (&lt;=30 dias) — biomassa (SNP), DDGS (SDR/BLS), julho.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1752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Conclusão do programa depende da SNP (esteiras de cavacos, 30/12/2026).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8620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Biomassa e grãos: maior exposição a incêndio por atrito (rolete/correia).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75488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Janela de transição: risco elevado até a troca de todas as correias.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17320"/>
            <a:ext cx="5486400" cy="434340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60020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600" b="1" i="0">
                <a:solidFill>
                  <a:srgbClr val="609346"/>
                </a:solidFill>
                <a:latin typeface="Montserrat"/>
              </a:rPr>
              <a:t>Encaminhamentos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4884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PCM acionado para alinhar com TODAS as áreas cuidado reforçado até concluir a substituição das correias.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01752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Priorizar as correias urgentes de julho (biomassa/DDGS).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88620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Reporte quinzenal de avanço por unidade (concluídas x plano).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5488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Padronizar cadastro na origem (NVM/SDL → NMT/SDR).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 i="0">
                <a:solidFill>
                  <a:srgbClr val="6B7885"/>
                </a:solidFill>
                <a:latin typeface="Montserrat"/>
              </a:rPr>
              <a:t>INPASA Agroindustrial S/A  ·  Manutenção &amp; Automação  ·  ref. 02/07/2026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 i="0">
                <a:solidFill>
                  <a:srgbClr val="6B7885"/>
                </a:solidFill>
                <a:latin typeface="Montserrat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