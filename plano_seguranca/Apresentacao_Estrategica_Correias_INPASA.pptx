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97316"/>
                </a:solidFill>
                <a:latin typeface="Inter"/>
              </a:rPr>
              <a:t>🏭  INPASA  •  APRESENTAÇÃO À DIRETORIA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Plano de Substituição de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Correias Transportadoras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9CA3AF"/>
                </a:solidFill>
                <a:latin typeface="Inter"/>
              </a:rPr>
              <a:t>Status do programa e cronograma de regularização por unidade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9CA3AF"/>
                </a:solidFill>
                <a:latin typeface="Inter"/>
              </a:rPr>
              <a:t>Nova Mutum • Sinop • Sidrolândia • Balsas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Base: levantamento FLEXLAB (jun/2026) + plano de execução  |  Data de referência: 02/07/2026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A PERGUNTA DA DIRETORIA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4864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Inter"/>
              </a:rPr>
              <a:t>Quando cada unidade estará regularizada?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201400" cy="777240"/>
          </a:xfrm>
          <a:prstGeom prst="roundRect">
            <a:avLst/>
          </a:prstGeom>
          <a:solidFill>
            <a:srgbClr val="252538"/>
          </a:solidFill>
          <a:ln w="1587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7724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Programa concluído em  30/12/2026    |    46 correias  •  3 já concluídas  •  7 urgentes (&lt;=30 dias)  •  0 vencidas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2697480" cy="28803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2697480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87752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Inter"/>
              </a:rPr>
              <a:t>NVM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Nova Mutum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83280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>
                <a:solidFill>
                  <a:srgbClr val="9CA3AF"/>
                </a:solidFill>
                <a:latin typeface="Inter"/>
              </a:rPr>
              <a:t>CONCLUÍDA 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30168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>
                <a:solidFill>
                  <a:srgbClr val="3B82F6"/>
                </a:solidFill>
                <a:latin typeface="Inter"/>
              </a:rPr>
              <a:t>22/10/2026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39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E0E0"/>
                </a:solidFill>
                <a:latin typeface="Inter"/>
              </a:rPr>
              <a:t>16 correias no plano; 1 já concluída. Última substituição em 22/10/2026.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331720"/>
            <a:ext cx="2697480" cy="28803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2331720"/>
            <a:ext cx="269748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2587752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F97316"/>
                </a:solidFill>
                <a:latin typeface="Inter"/>
              </a:rPr>
              <a:t>SNP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898648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Sinop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83280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>
                <a:solidFill>
                  <a:srgbClr val="9CA3AF"/>
                </a:solidFill>
                <a:latin typeface="Inter"/>
              </a:rPr>
              <a:t>CONCLUÍDA 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2152" y="3630168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>
                <a:solidFill>
                  <a:srgbClr val="F97316"/>
                </a:solidFill>
                <a:latin typeface="Inter"/>
              </a:rPr>
              <a:t>30/12/2026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4206239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E0E0"/>
                </a:solidFill>
                <a:latin typeface="Inter"/>
              </a:rPr>
              <a:t>23 correias no plano; 1 já concluída. Última em 30/12/2026 (esteiras de cavacos).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2331720"/>
            <a:ext cx="2697480" cy="28803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2331720"/>
            <a:ext cx="269748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587752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22C55E"/>
                </a:solidFill>
                <a:latin typeface="Inter"/>
              </a:rPr>
              <a:t>SDL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898648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Sidrolândia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83280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>
                <a:solidFill>
                  <a:srgbClr val="9CA3AF"/>
                </a:solidFill>
                <a:latin typeface="Inter"/>
              </a:rPr>
              <a:t>CONCLUÍDA 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630168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>
                <a:solidFill>
                  <a:srgbClr val="22C55E"/>
                </a:solidFill>
                <a:latin typeface="Inter"/>
              </a:rPr>
              <a:t>30/09/2026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206239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E0E0"/>
                </a:solidFill>
                <a:latin typeface="Inter"/>
              </a:rPr>
              <a:t>2 correias no plano. Ambas concluídas até 30/09/2026.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2331720"/>
            <a:ext cx="2697480" cy="28803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51976" y="2331720"/>
            <a:ext cx="2697480" cy="10972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587752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  <a:latin typeface="Inter"/>
              </a:rPr>
              <a:t>BLS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98648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Balsas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383280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>
                <a:solidFill>
                  <a:srgbClr val="9CA3AF"/>
                </a:solidFill>
                <a:latin typeface="Inter"/>
              </a:rPr>
              <a:t>CONCLUÍDA 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3630168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>
                <a:solidFill>
                  <a:srgbClr val="A855F7"/>
                </a:solidFill>
                <a:latin typeface="Inter"/>
              </a:rPr>
              <a:t>24/07/2026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4206239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E0E0"/>
                </a:solidFill>
                <a:latin typeface="Inter"/>
              </a:rPr>
              <a:t>4 esteiras + 1 sobressalente; 1 concluída. Esteiras concluídas até 24/07/2026.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INPASA  •  Plano de Substituição de Correias Transportadoras  •  ref. 02/07/2026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4864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Inter"/>
              </a:rPr>
              <a:t>Marcos de conclusão (jul → dez/2026)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0933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093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4427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442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8453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845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61947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194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5973" y="1600200"/>
            <a:ext cx="12700" cy="4023360"/>
          </a:xfrm>
          <a:prstGeom prst="rect">
            <a:avLst/>
          </a:prstGeom>
          <a:solidFill>
            <a:srgbClr val="2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597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Dez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6907" y="1874520"/>
            <a:ext cx="25400" cy="37033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2587" y="1618488"/>
            <a:ext cx="1097280" cy="256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>
                <a:solidFill>
                  <a:srgbClr val="EF4444"/>
                </a:solidFill>
                <a:latin typeface="Inter"/>
              </a:rPr>
              <a:t>HOJE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0312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Inter"/>
              </a:rPr>
              <a:t>NVM · Nova Mutum</a:t>
            </a:r>
          </a:p>
          <a:p>
            <a:pPr algn="l"/>
            <a:r>
              <a:rPr sz="1100" b="1">
                <a:solidFill>
                  <a:srgbClr val="3B82F6"/>
                </a:solidFill>
                <a:latin typeface="Inter"/>
              </a:rPr>
              <a:t>16 correias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304288"/>
            <a:ext cx="5589832" cy="384048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8712" y="228600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22/10/2026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F97316"/>
                </a:solidFill>
                <a:latin typeface="Inter"/>
              </a:rPr>
              <a:t>SNP · Sinop</a:t>
            </a:r>
          </a:p>
          <a:p>
            <a:pPr algn="l"/>
            <a:r>
              <a:rPr sz="1100" b="1">
                <a:solidFill>
                  <a:srgbClr val="F97316"/>
                </a:solidFill>
                <a:latin typeface="Inter"/>
              </a:rPr>
              <a:t>23 correias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172968"/>
            <a:ext cx="9003092" cy="38404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1972" y="315468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30/12/2026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Inter"/>
              </a:rPr>
              <a:t>SDL · Sidrolândia</a:t>
            </a:r>
          </a:p>
          <a:p>
            <a:pPr algn="l"/>
            <a:r>
              <a:rPr sz="1100" b="1">
                <a:solidFill>
                  <a:srgbClr val="22C55E"/>
                </a:solidFill>
                <a:latin typeface="Inter"/>
              </a:rPr>
              <a:t>2 correias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041648"/>
            <a:ext cx="4501546" cy="384048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0426" y="402336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30/09/2026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A855F7"/>
                </a:solidFill>
                <a:latin typeface="Inter"/>
              </a:rPr>
              <a:t>BLS · Balsas</a:t>
            </a:r>
          </a:p>
          <a:p>
            <a:pPr algn="l"/>
            <a:r>
              <a:rPr sz="1100" b="1">
                <a:solidFill>
                  <a:srgbClr val="A855F7"/>
                </a:solidFill>
                <a:latin typeface="Inter"/>
              </a:rPr>
              <a:t>5 correias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910328"/>
            <a:ext cx="1137753" cy="384048"/>
          </a:xfrm>
          <a:prstGeom prst="round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6633" y="489204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24/07/2026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F97316"/>
                </a:solidFill>
                <a:latin typeface="Inter"/>
              </a:rPr>
              <a:t>Conclusão de todo o programa: 30/12/2026 (última — Sinop, esteiras de cavacos da biomassa).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INPASA  •  Plano de Substituição de Correias Transportadoras  •  ref. 02/07/2026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CONSISTÊNCIA DOS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4864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Inter"/>
              </a:rPr>
              <a:t>Reconciliação: levantamento ×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4805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F97316"/>
                </a:solidFill>
                <a:latin typeface="Inter"/>
              </a:rPr>
              <a:t>Levantamento FLEXLAB (jun/2026)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nter"/>
              </a:rPr>
              <a:t>•  148 correias auditadas no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720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102 mantidas em operação (conforme norma / 2ª linha)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65576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•  46 a substituir  →  R$ 6,15 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23944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   • 41 reprovadas no ensaio ISO 340 (imediata)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82312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   • 5 por degradação física (programada)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4805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>
                <a:solidFill>
                  <a:srgbClr val="22C55E"/>
                </a:solidFill>
                <a:latin typeface="Inter"/>
              </a:rPr>
              <a:t>Plano de execução (dashboard atual)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•  46 correias no plano  ✓ bate com as 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0720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   • 3 já concluídas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65576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   • 43 em execução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123944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•  Conclusão: 30/12/2026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82312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0 correias vencidas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893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>
                <a:solidFill>
                  <a:srgbClr val="EAB308"/>
                </a:solidFill>
                <a:latin typeface="Inter"/>
              </a:rPr>
              <a:t>Obs.: padronizar código NMT/NVM (mesma planta) · confirmar unidades DRD e LEM · 1 dos 46 é sobressalente em estoque (45 esteiras físicas).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INPASA  •  Plano de Substituição de Correias Transportadoras  •  ref. 02/07/2026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Inter"/>
              </a:rPr>
              <a:t>DECISÃO 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1155680" cy="54864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Inter"/>
              </a:rPr>
              <a:t>Cuidado especial até concluir a substituição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4805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Inter"/>
              </a:rPr>
              <a:t>⚠  Pontos de atenção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7 correias urgentes (&lt;=30 dias) — biomassa (SNP), DDGS (SDL/BLS), julho.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Conclusão do programa depende da SNP (esteiras de cavacos, 30/12/2026).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Biomassa e grãos: maior exposição a incêndio por atrito (rolete/correia).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Janela de transição: risco elevado até a troca de todas as correias.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486400" cy="44805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>
                <a:solidFill>
                  <a:srgbClr val="22C55E"/>
                </a:solidFill>
                <a:latin typeface="Inter"/>
              </a:rPr>
              <a:t>✓  Encaminhamentos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PCM acionado para alinhar com TODAS as áreas cuidado reforçado até concluir a substituição das correias.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632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Priorizar as correias urgentes de julho (biomassa/DDGS).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Reporte quinzenal de avanço por unidade (concluídas x plano).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92040"/>
            <a:ext cx="493776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E0E0E0"/>
                </a:solidFill>
                <a:latin typeface="Inter"/>
              </a:rPr>
              <a:t>•  Padronizar cadastro (NMT/NVM) e confirmar DRD/LEM.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INPASA  •  Plano de Substituição de Correias Transportadoras  •  ref. 02/07/2026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