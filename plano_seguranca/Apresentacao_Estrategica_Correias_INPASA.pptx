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EAA239"/>
                </a:solidFill>
                <a:latin typeface="Montserrat"/>
              </a:rPr>
              <a:t>APRESENTAÇÃO À DIRETORIA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607040" cy="1645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Plano de Substituição de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Correias Transportadoras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7D6E6"/>
                </a:solidFill>
                <a:latin typeface="Montserrat"/>
              </a:rPr>
              <a:t>Status do programa e cronograma de regularização por unidade</a:t>
            </a:r>
          </a:p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7D6E6"/>
                </a:solidFill>
                <a:latin typeface="Montserrat"/>
              </a:rPr>
              <a:t>Nova Mutum · Sinop · Sidrolândia · Balsas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257800"/>
            <a:ext cx="2743200" cy="2540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4068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800" b="1" i="1">
                <a:solidFill>
                  <a:srgbClr val="EAA239"/>
                </a:solidFill>
                <a:latin typeface="Montserrat"/>
              </a:rPr>
              <a:t>MAIS QUE ENERGIA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0" i="0">
                <a:solidFill>
                  <a:srgbClr val="9FB4C9"/>
                </a:solidFill>
                <a:latin typeface="Montserrat"/>
              </a:rPr>
              <a:t>Base: levantamento FLEXLAB (jun/2026) + plano de execução  |  ref. 02/07/2026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61520" cy="585216"/>
          </a:xfrm>
          <a:prstGeom prst="rect">
            <a:avLst/>
          </a:prstGeom>
          <a:solidFill>
            <a:srgbClr val="124E81"/>
          </a:solidFill>
          <a:ln w="12700">
            <a:solidFill>
              <a:srgbClr val="124E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585216"/>
          </a:xfrm>
          <a:prstGeom prst="rect">
            <a:avLst/>
          </a:prstGeom>
          <a:solidFill>
            <a:srgbClr val="FFA32A"/>
          </a:solidFill>
          <a:ln w="12700">
            <a:solidFill>
              <a:srgbClr val="FFA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2880" y="0"/>
            <a:ext cx="91440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do Levantamento — 148 Correias · NMT · SNP · SDL · DRD · BLS · LEM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509760" y="0"/>
            <a:ext cx="24688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DBF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INPASA · Jun/2026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2880" y="694944"/>
            <a:ext cx="11795760" cy="475488"/>
          </a:xfrm>
          <a:prstGeom prst="rect">
            <a:avLst/>
          </a:prstGeom>
          <a:solidFill>
            <a:srgbClr val="609346"/>
          </a:solidFill>
          <a:ln w="12700">
            <a:solidFill>
              <a:srgbClr val="60934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82880" y="694944"/>
            <a:ext cx="11795760" cy="475488"/>
          </a:xfrm>
          <a:prstGeom prst="rect">
            <a:avLst/>
          </a:prstGeom>
          <a:noFill/>
          <a:ln/>
        </p:spPr>
        <p:txBody>
          <a:bodyPr wrap="square" lIns="0" tIns="152400" rIns="15240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FLEXLAB 0397/26 · 08/06/2026  ·  </a:t>
            </a:r>
            <a:r>
              <a:rPr lang="en-US" sz="1050" dirty="0">
                <a:solidFill>
                  <a:srgbClr val="D4F5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NMT CT-010 (correia do sinistro): </a:t>
            </a: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ANTICHAMA CONFIRMADA — ISO 340</a:t>
            </a:r>
            <a:r>
              <a:rPr lang="en-US" sz="1000" dirty="0">
                <a:solidFill>
                  <a:srgbClr val="D4F5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Inclusa nas 88 antichama 2ª linha (categoria: com laudo, sem ID visual).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82880" y="1261872"/>
            <a:ext cx="7845552" cy="274320"/>
          </a:xfrm>
          <a:prstGeom prst="rect">
            <a:avLst/>
          </a:prstGeom>
          <a:solidFill>
            <a:srgbClr val="609346"/>
          </a:solidFill>
          <a:ln w="12700">
            <a:solidFill>
              <a:srgbClr val="60934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82880" y="1261872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EM OPERAÇÃO — 102 correias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83296" y="1261872"/>
            <a:ext cx="3895344" cy="274320"/>
          </a:xfrm>
          <a:prstGeom prst="rect">
            <a:avLst/>
          </a:prstGeom>
          <a:solidFill>
            <a:srgbClr val="CC5121"/>
          </a:solidFill>
          <a:ln w="12700">
            <a:solidFill>
              <a:srgbClr val="CC512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8741664" y="1261872"/>
            <a:ext cx="32369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SUBSTITUIR — 46  ·  R$ 6,15M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2880" y="1627632"/>
            <a:ext cx="1920240" cy="4681728"/>
          </a:xfrm>
          <a:prstGeom prst="rect">
            <a:avLst/>
          </a:prstGeom>
          <a:solidFill>
            <a:srgbClr val="EAF5DC"/>
          </a:solidFill>
          <a:ln w="12700">
            <a:solidFill>
              <a:srgbClr val="609346">
                <a:alpha val="45000"/>
              </a:srgbClr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182880" y="1627632"/>
            <a:ext cx="1920240" cy="475488"/>
          </a:xfrm>
          <a:prstGeom prst="rect">
            <a:avLst/>
          </a:prstGeom>
          <a:solidFill>
            <a:srgbClr val="609346"/>
          </a:solidFill>
          <a:ln w="12700">
            <a:solidFill>
              <a:srgbClr val="60934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274320" y="1636776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188720" y="17556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12,8%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" y="2139696"/>
            <a:ext cx="17922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093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Linha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2377440"/>
            <a:ext cx="17922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Identificação visual na correia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2670048"/>
            <a:ext cx="1737360" cy="18288"/>
          </a:xfrm>
          <a:prstGeom prst="rect">
            <a:avLst/>
          </a:prstGeom>
          <a:solidFill>
            <a:srgbClr val="609346">
              <a:alpha val="45000"/>
            </a:srgbClr>
          </a:solidFill>
          <a:ln w="12700">
            <a:solidFill>
              <a:srgbClr val="60934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274320" y="2724912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Correia com marcação visual impressa, conforme exigido pela norma. Critério mais rigoroso.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" y="3831336"/>
            <a:ext cx="82296" cy="82296"/>
          </a:xfrm>
          <a:prstGeom prst="ellipse">
            <a:avLst/>
          </a:prstGeom>
          <a:solidFill>
            <a:srgbClr val="609346"/>
          </a:solidFill>
          <a:ln w="12700">
            <a:solidFill>
              <a:srgbClr val="60934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384048" y="3767328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visual impressa na correia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74320" y="4160520"/>
            <a:ext cx="82296" cy="82296"/>
          </a:xfrm>
          <a:prstGeom prst="ellipse">
            <a:avLst/>
          </a:prstGeom>
          <a:solidFill>
            <a:srgbClr val="609346"/>
          </a:solidFill>
          <a:ln w="12700">
            <a:solidFill>
              <a:srgbClr val="60934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384048" y="409651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Conforme exigência normativa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4320" y="4489704"/>
            <a:ext cx="82296" cy="82296"/>
          </a:xfrm>
          <a:prstGeom prst="ellipse">
            <a:avLst/>
          </a:prstGeom>
          <a:solidFill>
            <a:srgbClr val="609346"/>
          </a:solidFill>
          <a:ln w="12700">
            <a:solidFill>
              <a:srgbClr val="60934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384048" y="4425696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completa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74320" y="5888736"/>
            <a:ext cx="1737360" cy="329184"/>
          </a:xfrm>
          <a:prstGeom prst="roundRect">
            <a:avLst>
              <a:gd name="adj" fmla="val 11111"/>
            </a:avLst>
          </a:prstGeom>
          <a:solidFill>
            <a:srgbClr val="609346">
              <a:alpha val="90000"/>
            </a:srgbClr>
          </a:solidFill>
          <a:ln w="12700">
            <a:solidFill>
              <a:srgbClr val="60934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274320" y="58887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CONFORME NORMA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157984" y="1627632"/>
            <a:ext cx="1920240" cy="4681728"/>
          </a:xfrm>
          <a:prstGeom prst="rect">
            <a:avLst/>
          </a:prstGeom>
          <a:solidFill>
            <a:srgbClr val="EEF7E3"/>
          </a:solidFill>
          <a:ln w="12700">
            <a:solidFill>
              <a:srgbClr val="74A83A">
                <a:alpha val="45000"/>
              </a:srgbClr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2157984" y="1627632"/>
            <a:ext cx="1920240" cy="475488"/>
          </a:xfrm>
          <a:prstGeom prst="rect">
            <a:avLst/>
          </a:prstGeom>
          <a:solidFill>
            <a:srgbClr val="74A83A"/>
          </a:solidFill>
          <a:ln w="12700">
            <a:solidFill>
              <a:srgbClr val="74A8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2249424" y="1636776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3163824" y="17556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37,8%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249424" y="2139696"/>
            <a:ext cx="17922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4A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2ª Linha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249424" y="2377440"/>
            <a:ext cx="17922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Ev. física + teste aprovado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249424" y="2670048"/>
            <a:ext cx="1737360" cy="18288"/>
          </a:xfrm>
          <a:prstGeom prst="rect">
            <a:avLst/>
          </a:prstGeom>
          <a:solidFill>
            <a:srgbClr val="74A83A">
              <a:alpha val="45000"/>
            </a:srgbClr>
          </a:solidFill>
          <a:ln w="12700">
            <a:solidFill>
              <a:srgbClr val="74A83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2249424" y="2724912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física localizada em campo e aprovadas no ensaio ISO 340. Com marcação visual. Aguardando laudo formal.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249424" y="3831336"/>
            <a:ext cx="82296" cy="82296"/>
          </a:xfrm>
          <a:prstGeom prst="ellipse">
            <a:avLst/>
          </a:prstGeom>
          <a:solidFill>
            <a:srgbClr val="74A83A"/>
          </a:solidFill>
          <a:ln w="12700">
            <a:solidFill>
              <a:srgbClr val="74A8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2359152" y="3767328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física em campo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249424" y="4160520"/>
            <a:ext cx="82296" cy="82296"/>
          </a:xfrm>
          <a:prstGeom prst="ellipse">
            <a:avLst/>
          </a:prstGeom>
          <a:solidFill>
            <a:srgbClr val="74A83A"/>
          </a:solidFill>
          <a:ln w="12700">
            <a:solidFill>
              <a:srgbClr val="74A8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2359152" y="409651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Aprovadas — ISO 340 campo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249424" y="4489704"/>
            <a:ext cx="82296" cy="82296"/>
          </a:xfrm>
          <a:prstGeom prst="ellipse">
            <a:avLst/>
          </a:prstGeom>
          <a:solidFill>
            <a:srgbClr val="74A83A"/>
          </a:solidFill>
          <a:ln w="12700">
            <a:solidFill>
              <a:srgbClr val="74A8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2359152" y="4425696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Pendente laudo laboratorial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249424" y="5888736"/>
            <a:ext cx="1737360" cy="329184"/>
          </a:xfrm>
          <a:prstGeom prst="roundRect">
            <a:avLst>
              <a:gd name="adj" fmla="val 11111"/>
            </a:avLst>
          </a:prstGeom>
          <a:solidFill>
            <a:srgbClr val="74A83A">
              <a:alpha val="90000"/>
            </a:srgbClr>
          </a:solidFill>
          <a:ln w="12700">
            <a:solidFill>
              <a:srgbClr val="74A83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2249424" y="58887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PENDENTE LAUDO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133088" y="1627632"/>
            <a:ext cx="1920240" cy="4681728"/>
          </a:xfrm>
          <a:prstGeom prst="rect">
            <a:avLst/>
          </a:prstGeom>
          <a:solidFill>
            <a:srgbClr val="F0FAE8"/>
          </a:solidFill>
          <a:ln w="12700">
            <a:solidFill>
              <a:srgbClr val="8DC255">
                <a:alpha val="45000"/>
              </a:srgbClr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4133088" y="1627632"/>
            <a:ext cx="1920240" cy="475488"/>
          </a:xfrm>
          <a:prstGeom prst="rect">
            <a:avLst/>
          </a:prstGeom>
          <a:solidFill>
            <a:srgbClr val="8DC255"/>
          </a:solidFill>
          <a:ln w="12700">
            <a:solidFill>
              <a:srgbClr val="8DC2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4224528" y="1636776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800" dirty="0"/>
          </a:p>
        </p:txBody>
      </p:sp>
      <p:sp>
        <p:nvSpPr>
          <p:cNvPr id="47" name="Text 45"/>
          <p:cNvSpPr/>
          <p:nvPr/>
        </p:nvSpPr>
        <p:spPr>
          <a:xfrm>
            <a:off x="5138928" y="17556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6,8%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224528" y="2139696"/>
            <a:ext cx="17922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DC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2ª Linha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224528" y="2377440"/>
            <a:ext cx="17922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laudo, sem ID visual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224528" y="2670048"/>
            <a:ext cx="1737360" cy="18288"/>
          </a:xfrm>
          <a:prstGeom prst="rect">
            <a:avLst/>
          </a:prstGeom>
          <a:solidFill>
            <a:srgbClr val="8DC255">
              <a:alpha val="45000"/>
            </a:srgbClr>
          </a:solidFill>
          <a:ln w="12700">
            <a:solidFill>
              <a:srgbClr val="8DC2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4224528" y="2724912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Possuem laudo ou documento de conformidade. </a:t>
            </a:r>
            <a:r>
              <a:rPr lang="en-US" sz="800" dirty="0" err="1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Aprovadas</a:t>
            </a: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</a:t>
            </a:r>
            <a:r>
              <a:rPr lang="en-US" sz="800" dirty="0" err="1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ensaio</a:t>
            </a: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ISO 340. Sem identificação visual na correia. NMT CT-010 inclusa (Flexlab 0397/26).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224528" y="3831336"/>
            <a:ext cx="82296" cy="82296"/>
          </a:xfrm>
          <a:prstGeom prst="ellipse">
            <a:avLst/>
          </a:prstGeom>
          <a:solidFill>
            <a:srgbClr val="8DC255"/>
          </a:solidFill>
          <a:ln w="12700">
            <a:solidFill>
              <a:srgbClr val="8DC2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Text 51"/>
          <p:cNvSpPr/>
          <p:nvPr/>
        </p:nvSpPr>
        <p:spPr>
          <a:xfrm>
            <a:off x="4334256" y="3767328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 ou doc. de conformidade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224528" y="4160520"/>
            <a:ext cx="82296" cy="82296"/>
          </a:xfrm>
          <a:prstGeom prst="ellipse">
            <a:avLst/>
          </a:prstGeom>
          <a:solidFill>
            <a:srgbClr val="8DC255"/>
          </a:solidFill>
          <a:ln w="12700">
            <a:solidFill>
              <a:srgbClr val="8DC2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4334256" y="409651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marcação visual na correia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224528" y="4489704"/>
            <a:ext cx="82296" cy="82296"/>
          </a:xfrm>
          <a:prstGeom prst="ellipse">
            <a:avLst/>
          </a:prstGeom>
          <a:solidFill>
            <a:srgbClr val="8DC255"/>
          </a:solidFill>
          <a:ln w="12700">
            <a:solidFill>
              <a:srgbClr val="8DC2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4334256" y="4425696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NMT CT-010 — Flexlab 0397/26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224528" y="5888736"/>
            <a:ext cx="1737360" cy="329184"/>
          </a:xfrm>
          <a:prstGeom prst="roundRect">
            <a:avLst>
              <a:gd name="adj" fmla="val 11111"/>
            </a:avLst>
          </a:prstGeom>
          <a:solidFill>
            <a:srgbClr val="8DC255">
              <a:alpha val="90000"/>
            </a:srgbClr>
          </a:solidFill>
          <a:ln w="12700">
            <a:solidFill>
              <a:srgbClr val="8DC255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4224528" y="58887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REGULARIZAR ID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108192" y="1627632"/>
            <a:ext cx="1920240" cy="4681728"/>
          </a:xfrm>
          <a:prstGeom prst="rect">
            <a:avLst/>
          </a:prstGeom>
          <a:solidFill>
            <a:srgbClr val="F4FBED"/>
          </a:solidFill>
          <a:ln w="12700">
            <a:solidFill>
              <a:srgbClr val="A8C96B">
                <a:alpha val="45000"/>
              </a:srgbClr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1" name="Shape 59"/>
          <p:cNvSpPr/>
          <p:nvPr/>
        </p:nvSpPr>
        <p:spPr>
          <a:xfrm>
            <a:off x="6108192" y="1627632"/>
            <a:ext cx="1920240" cy="475488"/>
          </a:xfrm>
          <a:prstGeom prst="rect">
            <a:avLst/>
          </a:prstGeom>
          <a:solidFill>
            <a:srgbClr val="A8C96B"/>
          </a:solidFill>
          <a:ln w="12700">
            <a:solidFill>
              <a:srgbClr val="A8C9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6199632" y="1636776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800" dirty="0"/>
          </a:p>
        </p:txBody>
      </p:sp>
      <p:sp>
        <p:nvSpPr>
          <p:cNvPr id="63" name="Text 61"/>
          <p:cNvSpPr/>
          <p:nvPr/>
        </p:nvSpPr>
        <p:spPr>
          <a:xfrm>
            <a:off x="7114032" y="17556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11,5%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6199632" y="2139696"/>
            <a:ext cx="17922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8C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2ª Linha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6199632" y="2377440"/>
            <a:ext cx="17922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teste, sem laudo e sem ID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99632" y="2670048"/>
            <a:ext cx="1737360" cy="18288"/>
          </a:xfrm>
          <a:prstGeom prst="rect">
            <a:avLst/>
          </a:prstGeom>
          <a:solidFill>
            <a:srgbClr val="A8C96B">
              <a:alpha val="45000"/>
            </a:srgbClr>
          </a:solidFill>
          <a:ln w="12700">
            <a:solidFill>
              <a:srgbClr val="A8C96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6199632" y="2724912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laudo formal e sem identificação visual. Aprovadas apenas pelo ensaio ISO 340 em campo. Maior exposição documental.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199632" y="3831336"/>
            <a:ext cx="82296" cy="82296"/>
          </a:xfrm>
          <a:prstGeom prst="ellipse">
            <a:avLst/>
          </a:prstGeom>
          <a:solidFill>
            <a:srgbClr val="A8C96B"/>
          </a:solidFill>
          <a:ln w="12700">
            <a:solidFill>
              <a:srgbClr val="A8C9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Text 67"/>
          <p:cNvSpPr/>
          <p:nvPr/>
        </p:nvSpPr>
        <p:spPr>
          <a:xfrm>
            <a:off x="6309360" y="3767328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Aprovadas no teste ISO 340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6199632" y="4160520"/>
            <a:ext cx="82296" cy="82296"/>
          </a:xfrm>
          <a:prstGeom prst="ellipse">
            <a:avLst/>
          </a:prstGeom>
          <a:solidFill>
            <a:srgbClr val="A8C96B"/>
          </a:solidFill>
          <a:ln w="12700">
            <a:solidFill>
              <a:srgbClr val="A8C9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Text 69"/>
          <p:cNvSpPr/>
          <p:nvPr/>
        </p:nvSpPr>
        <p:spPr>
          <a:xfrm>
            <a:off x="6309360" y="409651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laudo e sem ID visual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6199632" y="4489704"/>
            <a:ext cx="82296" cy="82296"/>
          </a:xfrm>
          <a:prstGeom prst="ellipse">
            <a:avLst/>
          </a:prstGeom>
          <a:solidFill>
            <a:srgbClr val="A8C96B"/>
          </a:solidFill>
          <a:ln w="12700">
            <a:solidFill>
              <a:srgbClr val="A8C9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Text 71"/>
          <p:cNvSpPr/>
          <p:nvPr/>
        </p:nvSpPr>
        <p:spPr>
          <a:xfrm>
            <a:off x="6309360" y="4425696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Maior exposição — priorizar doc.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6199632" y="5888736"/>
            <a:ext cx="1737360" cy="329184"/>
          </a:xfrm>
          <a:prstGeom prst="roundRect">
            <a:avLst>
              <a:gd name="adj" fmla="val 11111"/>
            </a:avLst>
          </a:prstGeom>
          <a:solidFill>
            <a:srgbClr val="A8C96B">
              <a:alpha val="90000"/>
            </a:srgbClr>
          </a:solidFill>
          <a:ln w="12700">
            <a:solidFill>
              <a:srgbClr val="A8C96B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Text 73"/>
          <p:cNvSpPr/>
          <p:nvPr/>
        </p:nvSpPr>
        <p:spPr>
          <a:xfrm>
            <a:off x="6199632" y="58887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OBTER LAUDO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8083296" y="1627632"/>
            <a:ext cx="1920240" cy="4681728"/>
          </a:xfrm>
          <a:prstGeom prst="rect">
            <a:avLst/>
          </a:prstGeom>
          <a:solidFill>
            <a:srgbClr val="FEF0EB"/>
          </a:solidFill>
          <a:ln w="12700">
            <a:solidFill>
              <a:srgbClr val="CC5121">
                <a:alpha val="45000"/>
              </a:srgbClr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77" name="Shape 75"/>
          <p:cNvSpPr/>
          <p:nvPr/>
        </p:nvSpPr>
        <p:spPr>
          <a:xfrm>
            <a:off x="8083296" y="1627632"/>
            <a:ext cx="1920240" cy="475488"/>
          </a:xfrm>
          <a:prstGeom prst="rect">
            <a:avLst/>
          </a:prstGeom>
          <a:solidFill>
            <a:srgbClr val="CC5121"/>
          </a:solidFill>
          <a:ln w="12700">
            <a:solidFill>
              <a:srgbClr val="CC512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Text 76"/>
          <p:cNvSpPr/>
          <p:nvPr/>
        </p:nvSpPr>
        <p:spPr>
          <a:xfrm>
            <a:off x="8174736" y="1636776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2800" dirty="0"/>
          </a:p>
        </p:txBody>
      </p:sp>
      <p:sp>
        <p:nvSpPr>
          <p:cNvPr id="79" name="Text 77"/>
          <p:cNvSpPr/>
          <p:nvPr/>
        </p:nvSpPr>
        <p:spPr>
          <a:xfrm>
            <a:off x="9089136" y="17556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27,7%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8174736" y="2139696"/>
            <a:ext cx="17922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C5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Reprovadas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8174736" y="2377440"/>
            <a:ext cx="17922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Falha no ensaio ISO 340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8174736" y="2670048"/>
            <a:ext cx="1737360" cy="18288"/>
          </a:xfrm>
          <a:prstGeom prst="rect">
            <a:avLst/>
          </a:prstGeom>
          <a:solidFill>
            <a:srgbClr val="CC5121">
              <a:alpha val="45000"/>
            </a:srgbClr>
          </a:solidFill>
          <a:ln w="12700">
            <a:solidFill>
              <a:srgbClr val="CC5121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Text 81"/>
          <p:cNvSpPr/>
          <p:nvPr/>
        </p:nvSpPr>
        <p:spPr>
          <a:xfrm>
            <a:off x="8174736" y="2724912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Reprovadas no ensaio de flamabilidade ISO 340 em campo. Substituição prioritária por criticidade.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8174736" y="3831336"/>
            <a:ext cx="82296" cy="82296"/>
          </a:xfrm>
          <a:prstGeom prst="ellipse">
            <a:avLst/>
          </a:prstGeom>
          <a:solidFill>
            <a:srgbClr val="CC5121"/>
          </a:solidFill>
          <a:ln w="12700">
            <a:solidFill>
              <a:srgbClr val="CC512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Text 83"/>
          <p:cNvSpPr/>
          <p:nvPr/>
        </p:nvSpPr>
        <p:spPr>
          <a:xfrm>
            <a:off x="8284464" y="3767328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SNP: 21 itens · R$ 3,55 mi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8174736" y="4160520"/>
            <a:ext cx="82296" cy="82296"/>
          </a:xfrm>
          <a:prstGeom prst="ellipse">
            <a:avLst/>
          </a:prstGeom>
          <a:solidFill>
            <a:srgbClr val="CC5121"/>
          </a:solidFill>
          <a:ln w="12700">
            <a:solidFill>
              <a:srgbClr val="CC512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7" name="Text 85"/>
          <p:cNvSpPr/>
          <p:nvPr/>
        </p:nvSpPr>
        <p:spPr>
          <a:xfrm>
            <a:off x="8284464" y="409651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NMT: 15 itens · R$ 1,70 mi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8174736" y="4489704"/>
            <a:ext cx="82296" cy="82296"/>
          </a:xfrm>
          <a:prstGeom prst="ellipse">
            <a:avLst/>
          </a:prstGeom>
          <a:solidFill>
            <a:srgbClr val="CC5121"/>
          </a:solidFill>
          <a:ln w="12700">
            <a:solidFill>
              <a:srgbClr val="CC512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9" name="Text 87"/>
          <p:cNvSpPr/>
          <p:nvPr/>
        </p:nvSpPr>
        <p:spPr>
          <a:xfrm>
            <a:off x="8284464" y="4425696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SDL/BLS/LEM: 5 itens · R$ 0,90 mi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8174736" y="5888736"/>
            <a:ext cx="1737360" cy="329184"/>
          </a:xfrm>
          <a:prstGeom prst="roundRect">
            <a:avLst>
              <a:gd name="adj" fmla="val 11111"/>
            </a:avLst>
          </a:prstGeom>
          <a:solidFill>
            <a:srgbClr val="CC5121">
              <a:alpha val="90000"/>
            </a:srgbClr>
          </a:solidFill>
          <a:ln w="12700">
            <a:solidFill>
              <a:srgbClr val="CC5121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Text 89"/>
          <p:cNvSpPr/>
          <p:nvPr/>
        </p:nvSpPr>
        <p:spPr>
          <a:xfrm>
            <a:off x="8174736" y="58887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SUBSTITUICAO IMEDIATA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10058400" y="1627632"/>
            <a:ext cx="1920240" cy="4681728"/>
          </a:xfrm>
          <a:prstGeom prst="rect">
            <a:avLst/>
          </a:prstGeom>
          <a:solidFill>
            <a:srgbClr val="FFF8EB"/>
          </a:solidFill>
          <a:ln w="12700">
            <a:solidFill>
              <a:srgbClr val="D97706">
                <a:alpha val="45000"/>
              </a:srgbClr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3" name="Shape 91"/>
          <p:cNvSpPr/>
          <p:nvPr/>
        </p:nvSpPr>
        <p:spPr>
          <a:xfrm>
            <a:off x="10058400" y="1627632"/>
            <a:ext cx="1920240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Text 92"/>
          <p:cNvSpPr/>
          <p:nvPr/>
        </p:nvSpPr>
        <p:spPr>
          <a:xfrm>
            <a:off x="10149840" y="1636776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800" dirty="0"/>
          </a:p>
        </p:txBody>
      </p:sp>
      <p:sp>
        <p:nvSpPr>
          <p:cNvPr id="95" name="Text 93"/>
          <p:cNvSpPr/>
          <p:nvPr/>
        </p:nvSpPr>
        <p:spPr>
          <a:xfrm>
            <a:off x="11064240" y="17556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3,4%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10149840" y="2139696"/>
            <a:ext cx="17922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Degradação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10149840" y="2377440"/>
            <a:ext cx="17922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Antichama 2ª linha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10149840" y="2670048"/>
            <a:ext cx="1737360" cy="18288"/>
          </a:xfrm>
          <a:prstGeom prst="rect">
            <a:avLst/>
          </a:prstGeom>
          <a:solidFill>
            <a:srgbClr val="D97706">
              <a:alpha val="45000"/>
            </a:srgbClr>
          </a:solidFill>
          <a:ln w="12700">
            <a:solidFill>
              <a:srgbClr val="D9770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Text 97"/>
          <p:cNvSpPr/>
          <p:nvPr/>
        </p:nvSpPr>
        <p:spPr>
          <a:xfrm>
            <a:off x="10149840" y="2724912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antichama (2ª linha), mas com degradação prematura. Substituição por condição física, não por falha no ensaio.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10149840" y="3831336"/>
            <a:ext cx="82296" cy="8229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1" name="Text 99"/>
          <p:cNvSpPr/>
          <p:nvPr/>
        </p:nvSpPr>
        <p:spPr>
          <a:xfrm>
            <a:off x="10259568" y="3767328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Aprovadas no ensaio ISO 340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10149840" y="4160520"/>
            <a:ext cx="82296" cy="8229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3" name="Text 101"/>
          <p:cNvSpPr/>
          <p:nvPr/>
        </p:nvSpPr>
        <p:spPr>
          <a:xfrm>
            <a:off x="10259568" y="409651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Degradação física prematura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10149840" y="4489704"/>
            <a:ext cx="82296" cy="8229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Text 103"/>
          <p:cNvSpPr/>
          <p:nvPr/>
        </p:nvSpPr>
        <p:spPr>
          <a:xfrm>
            <a:off x="10259568" y="4425696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Substituição</a:t>
            </a: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00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sendo</a:t>
            </a: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00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programada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10149840" y="5888736"/>
            <a:ext cx="1737360" cy="329184"/>
          </a:xfrm>
          <a:prstGeom prst="roundRect">
            <a:avLst>
              <a:gd name="adj" fmla="val 11111"/>
            </a:avLst>
          </a:prstGeom>
          <a:solidFill>
            <a:srgbClr val="D97706">
              <a:alpha val="90000"/>
            </a:srgbClr>
          </a:solidFill>
          <a:ln w="12700">
            <a:solidFill>
              <a:srgbClr val="D9770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7" name="Text 105"/>
          <p:cNvSpPr/>
          <p:nvPr/>
        </p:nvSpPr>
        <p:spPr>
          <a:xfrm>
            <a:off x="10149840" y="58887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PROG. SUBSTITUICAO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182880" y="6419088"/>
            <a:ext cx="11795760" cy="201168"/>
          </a:xfrm>
          <a:prstGeom prst="rect">
            <a:avLst/>
          </a:prstGeom>
          <a:solidFill>
            <a:srgbClr val="E4EAF5"/>
          </a:solidFill>
          <a:ln w="12700">
            <a:solidFill>
              <a:srgbClr val="124E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9" name="Text 107"/>
          <p:cNvSpPr/>
          <p:nvPr/>
        </p:nvSpPr>
        <p:spPr>
          <a:xfrm>
            <a:off x="219456" y="6419088"/>
            <a:ext cx="117226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24E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Critério normativo: correia antichama deve ter identificação visual impressa na própria correia — sem ela, classifica-se como 2ª linha independentemente de laudo ou ensaio aprovado.  ·  R$ 6,15M base histórico — Suprimentos orçando valores atuais.  ·  Laudo Flexlab: Rel. 0397/26.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0" y="6693408"/>
            <a:ext cx="12161520" cy="164592"/>
          </a:xfrm>
          <a:prstGeom prst="rect">
            <a:avLst/>
          </a:prstGeom>
          <a:solidFill>
            <a:srgbClr val="124E81"/>
          </a:solidFill>
          <a:ln w="12700">
            <a:solidFill>
              <a:srgbClr val="124E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1" name="Text 109"/>
          <p:cNvSpPr/>
          <p:nvPr/>
        </p:nvSpPr>
        <p:spPr>
          <a:xfrm>
            <a:off x="182880" y="6693408"/>
            <a:ext cx="1179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BDBF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INPASA Agroindustrial S/A · VP Manutenção e Obras · Confidencial · APR_MULTI_GERAL_CorreiasAntichama_2026-06-08_v04</a:t>
            </a:r>
            <a:endParaRPr lang="en-US" sz="650" dirty="0"/>
          </a:p>
        </p:txBody>
      </p:sp>
      <p:sp>
        <p:nvSpPr>
          <p:cNvPr id="112" name="Rounded Rectangle 111"/>
          <p:cNvSpPr/>
          <p:nvPr/>
        </p:nvSpPr>
        <p:spPr>
          <a:xfrm>
            <a:off x="7991856" y="1188720"/>
            <a:ext cx="4059936" cy="5193792"/>
          </a:xfrm>
          <a:prstGeom prst="roundRect">
            <a:avLst/>
          </a:prstGeom>
          <a:noFill/>
          <a:ln w="44450">
            <a:solidFill>
              <a:srgbClr val="E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10451592" y="960120"/>
            <a:ext cx="1600200" cy="256032"/>
          </a:xfrm>
          <a:prstGeom prst="roundRect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◄ FOCO AGORA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EAA239"/>
                </a:solidFill>
                <a:latin typeface="Montserrat"/>
              </a:rPr>
              <a:t>A PERGUNTA DA DIRETORIA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15568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Montserrat"/>
              </a:rPr>
              <a:t>Quando cada unidade estará regularizada?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11201400" cy="731520"/>
          </a:xfrm>
          <a:prstGeom prst="roundRect">
            <a:avLst/>
          </a:prstGeom>
          <a:solidFill>
            <a:srgbClr val="F2F5F8"/>
          </a:solidFill>
          <a:ln w="15875">
            <a:solidFill>
              <a:srgbClr val="124E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789920" cy="73152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500" b="1" i="0">
                <a:solidFill>
                  <a:srgbClr val="124E81"/>
                </a:solidFill>
                <a:latin typeface="Montserrat"/>
              </a:rPr>
              <a:t>Programa concluído em 30/12/2026    |    46 correias · 3 concluídas · 7 urgentes (&lt;=30 dias) · 0 vencidas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2697480" cy="292608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2697480" cy="118872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124E81"/>
                </a:solidFill>
                <a:latin typeface="Montserrat"/>
              </a:rPr>
              <a:t>NMT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71216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20303F"/>
                </a:solidFill>
                <a:latin typeface="Montserrat"/>
              </a:rPr>
              <a:t>Nova Mutum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64992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6B7885"/>
                </a:solidFill>
                <a:latin typeface="Montserrat"/>
              </a:rPr>
              <a:t>CONCLUÍDA 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11880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 i="0">
                <a:solidFill>
                  <a:srgbClr val="124E81"/>
                </a:solidFill>
                <a:latin typeface="Montserrat"/>
              </a:rPr>
              <a:t>22/10/2026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06240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0303F"/>
                </a:solidFill>
                <a:latin typeface="Montserrat"/>
              </a:rPr>
              <a:t>16 correias no plano; 1 concluída. Última substituição em 22/10/2026.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2286000"/>
            <a:ext cx="2697480" cy="292608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9272" y="2286000"/>
            <a:ext cx="2697480" cy="118872"/>
          </a:xfrm>
          <a:prstGeom prst="rect">
            <a:avLst/>
          </a:prstGeom>
          <a:solidFill>
            <a:srgbClr val="EA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2152" y="256032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EAA239"/>
                </a:solidFill>
                <a:latin typeface="Montserrat"/>
              </a:rPr>
              <a:t>SNP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2871216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20303F"/>
                </a:solidFill>
                <a:latin typeface="Montserrat"/>
              </a:rPr>
              <a:t>Sinop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3364992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6B7885"/>
                </a:solidFill>
                <a:latin typeface="Montserrat"/>
              </a:rPr>
              <a:t>CONCLUÍDA 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2152" y="3611880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 i="0">
                <a:solidFill>
                  <a:srgbClr val="EAA239"/>
                </a:solidFill>
                <a:latin typeface="Montserrat"/>
              </a:rPr>
              <a:t>30/12/2026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2152" y="4206240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0303F"/>
                </a:solidFill>
                <a:latin typeface="Montserrat"/>
              </a:rPr>
              <a:t>23 correias no plano; 1 concluída. Última em 30/12/2026 (esteiras de cavacos).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35624" y="2286000"/>
            <a:ext cx="2697480" cy="292608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35624" y="2286000"/>
            <a:ext cx="2697480" cy="118872"/>
          </a:xfrm>
          <a:prstGeom prst="rect">
            <a:avLst/>
          </a:prstGeom>
          <a:solidFill>
            <a:srgbClr val="007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56032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007D77"/>
                </a:solidFill>
                <a:latin typeface="Montserrat"/>
              </a:rPr>
              <a:t>SDR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2871216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20303F"/>
                </a:solidFill>
                <a:latin typeface="Montserrat"/>
              </a:rPr>
              <a:t>Sidrolândia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3364992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6B7885"/>
                </a:solidFill>
                <a:latin typeface="Montserrat"/>
              </a:rPr>
              <a:t>CONCLUÍDA 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611880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 i="0">
                <a:solidFill>
                  <a:srgbClr val="007D77"/>
                </a:solidFill>
                <a:latin typeface="Montserrat"/>
              </a:rPr>
              <a:t>30/09/2026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206240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0303F"/>
                </a:solidFill>
                <a:latin typeface="Montserrat"/>
              </a:rPr>
              <a:t>2 correias no plano. Ambas concluídas até 30/09/2026.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51976" y="2286000"/>
            <a:ext cx="2697480" cy="292608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51976" y="2286000"/>
            <a:ext cx="2697480" cy="118872"/>
          </a:xfrm>
          <a:prstGeom prst="rect">
            <a:avLst/>
          </a:prstGeom>
          <a:solidFill>
            <a:srgbClr val="007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34856" y="256032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007CC5"/>
                </a:solidFill>
                <a:latin typeface="Montserrat"/>
              </a:rPr>
              <a:t>BLS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6" y="2871216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20303F"/>
                </a:solidFill>
                <a:latin typeface="Montserrat"/>
              </a:rPr>
              <a:t>Balsas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4856" y="3364992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6B7885"/>
                </a:solidFill>
                <a:latin typeface="Montserrat"/>
              </a:rPr>
              <a:t>CONCLUÍDA 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4856" y="3611880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 i="0">
                <a:solidFill>
                  <a:srgbClr val="007CC5"/>
                </a:solidFill>
                <a:latin typeface="Montserrat"/>
              </a:rPr>
              <a:t>24/07/2026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34856" y="4206240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0303F"/>
                </a:solidFill>
                <a:latin typeface="Montserrat"/>
              </a:rPr>
              <a:t>4 esteiras + 1 sobressalente; 1 concluída. Esteiras concluídas até 24/07/2026.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 i="0">
                <a:solidFill>
                  <a:srgbClr val="6B7885"/>
                </a:solidFill>
                <a:latin typeface="Montserrat"/>
              </a:rPr>
              <a:t>INPASA Agroindustrial S/A  ·  Manutenção &amp; Automação  ·  ref. 02/07/2026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 i="0">
                <a:solidFill>
                  <a:srgbClr val="6B7885"/>
                </a:solidFill>
                <a:latin typeface="Montserra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EAA239"/>
                </a:solidFill>
                <a:latin typeface="Montserrat"/>
              </a:rPr>
              <a:t>LINHA DO TEMPO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15568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Montserrat"/>
              </a:rPr>
              <a:t>Marcos de conclusão (jul → dez/2026)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2377440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Jul</a:t>
            </a:r>
          </a:p>
        </p:txBody>
      </p:sp>
      <p:sp>
        <p:nvSpPr>
          <p:cNvPr id="9" name="Rectangle 8"/>
          <p:cNvSpPr/>
          <p:nvPr/>
        </p:nvSpPr>
        <p:spPr>
          <a:xfrm>
            <a:off x="3910933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10933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Ago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44427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4427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28453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28453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61947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1947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Nov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45973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45973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Dez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6907" y="1874520"/>
            <a:ext cx="25400" cy="3703320"/>
          </a:xfrm>
          <a:prstGeom prst="rect">
            <a:avLst/>
          </a:prstGeom>
          <a:solidFill>
            <a:srgbClr val="CC5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52587" y="1618488"/>
            <a:ext cx="1097280" cy="25603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CC5121"/>
                </a:solidFill>
                <a:latin typeface="Montserrat"/>
              </a:rPr>
              <a:t>HOJE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10312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124E81"/>
                </a:solidFill>
                <a:latin typeface="Montserrat"/>
              </a:rPr>
              <a:t>NMT · Nova Mutum</a:t>
            </a:r>
          </a:p>
          <a:p>
            <a:pPr algn="l"/>
            <a:r>
              <a:rPr sz="1100" b="1" i="0">
                <a:solidFill>
                  <a:srgbClr val="124E81"/>
                </a:solidFill>
                <a:latin typeface="Montserrat"/>
              </a:rPr>
              <a:t>16 correias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2304288"/>
            <a:ext cx="5589832" cy="384048"/>
          </a:xfrm>
          <a:prstGeom prst="round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8712" y="228600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20303F"/>
                </a:solidFill>
                <a:latin typeface="Montserrat"/>
              </a:rPr>
              <a:t>22/10/2026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97180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EAA239"/>
                </a:solidFill>
                <a:latin typeface="Montserrat"/>
              </a:rPr>
              <a:t>SNP · Sinop</a:t>
            </a:r>
          </a:p>
          <a:p>
            <a:pPr algn="l"/>
            <a:r>
              <a:rPr sz="1100" b="1" i="0">
                <a:solidFill>
                  <a:srgbClr val="EAA239"/>
                </a:solidFill>
                <a:latin typeface="Montserrat"/>
              </a:rPr>
              <a:t>23 correias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7440" y="3172968"/>
            <a:ext cx="9003092" cy="384048"/>
          </a:xfrm>
          <a:prstGeom prst="roundRect">
            <a:avLst/>
          </a:prstGeom>
          <a:solidFill>
            <a:srgbClr val="EA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71972" y="315468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20303F"/>
                </a:solidFill>
                <a:latin typeface="Montserrat"/>
              </a:rPr>
              <a:t>30/12/2026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4048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007D77"/>
                </a:solidFill>
                <a:latin typeface="Montserrat"/>
              </a:rPr>
              <a:t>SDR · Sidrolândia</a:t>
            </a:r>
          </a:p>
          <a:p>
            <a:pPr algn="l"/>
            <a:r>
              <a:rPr sz="1100" b="1" i="0">
                <a:solidFill>
                  <a:srgbClr val="007D77"/>
                </a:solidFill>
                <a:latin typeface="Montserrat"/>
              </a:rPr>
              <a:t>2 correias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77440" y="4041648"/>
            <a:ext cx="4501546" cy="384048"/>
          </a:xfrm>
          <a:prstGeom prst="roundRect">
            <a:avLst/>
          </a:prstGeom>
          <a:solidFill>
            <a:srgbClr val="007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0426" y="402336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20303F"/>
                </a:solidFill>
                <a:latin typeface="Montserrat"/>
              </a:rPr>
              <a:t>30/09/2026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70916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007CC5"/>
                </a:solidFill>
                <a:latin typeface="Montserrat"/>
              </a:rPr>
              <a:t>BLS · Balsas</a:t>
            </a:r>
          </a:p>
          <a:p>
            <a:pPr algn="l"/>
            <a:r>
              <a:rPr sz="1100" b="1" i="0">
                <a:solidFill>
                  <a:srgbClr val="007CC5"/>
                </a:solidFill>
                <a:latin typeface="Montserrat"/>
              </a:rPr>
              <a:t>5 correias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7440" y="4910328"/>
            <a:ext cx="1137753" cy="384048"/>
          </a:xfrm>
          <a:prstGeom prst="roundRect">
            <a:avLst/>
          </a:prstGeom>
          <a:solidFill>
            <a:srgbClr val="007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06633" y="489204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20303F"/>
                </a:solidFill>
                <a:latin typeface="Montserrat"/>
              </a:rPr>
              <a:t>24/07/2026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9436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124E81"/>
                </a:solidFill>
                <a:latin typeface="Montserrat"/>
              </a:rPr>
              <a:t>Conclusão de todo o programa: 30/12/2026 (última — Sinop, esteiras de cavacos da biomassa).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 i="0">
                <a:solidFill>
                  <a:srgbClr val="6B7885"/>
                </a:solidFill>
                <a:latin typeface="Montserrat"/>
              </a:rPr>
              <a:t>INPASA Agroindustrial S/A  ·  Manutenção &amp; Automação  ·  ref. 02/07/2026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 i="0">
                <a:solidFill>
                  <a:srgbClr val="6B7885"/>
                </a:solidFill>
                <a:latin typeface="Montserra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EAA239"/>
                </a:solidFill>
                <a:latin typeface="Montserrat"/>
              </a:rPr>
              <a:t>CONSISTÊNCIA DOS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15568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Montserrat"/>
              </a:rPr>
              <a:t>Reconciliação: levantamento × execução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5486400" cy="434340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124E81"/>
                </a:solidFill>
                <a:latin typeface="Montserrat"/>
              </a:rPr>
              <a:t>Levantamento FLEXLAB (jun/2026)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20303F"/>
                </a:solidFill>
                <a:latin typeface="Montserrat"/>
              </a:rPr>
              <a:t>•  148 correias auditadas no grupo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102 mantidas em operação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92424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20303F"/>
                </a:solidFill>
                <a:latin typeface="Montserrat"/>
              </a:rPr>
              <a:t>•  46 a substituir  →  R$ 6,15 mi (só correias)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14216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   • 41 reprovadas no ensaio ISO 340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8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   • 5 por degradação física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486400" cy="434340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609346"/>
                </a:solidFill>
                <a:latin typeface="Montserrat"/>
              </a:rPr>
              <a:t>Plano de execução (dashboard atual)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48840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20303F"/>
                </a:solidFill>
                <a:latin typeface="Montserrat"/>
              </a:rPr>
              <a:t>•  46 correias no plano  ✓ bate com as 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770632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   • 3 já concluídas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392424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   • 43 em execução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14216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20303F"/>
                </a:solidFill>
                <a:latin typeface="Montserrat"/>
              </a:rPr>
              <a:t>•  Conclusão: 30/12/2026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636008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0 correias vencidas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80644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50" b="0" i="0">
                <a:solidFill>
                  <a:srgbClr val="CC5121"/>
                </a:solidFill>
                <a:latin typeface="Montserrat"/>
              </a:rPr>
              <a:t>Obs.: R$ 6,15 mi = somente as correias (material) — montagem com mão de obra interna, apenas vulcanização externa · Dourados (DRD) e LEM sem itens críticos (reprovados ISO 340) nesta 1ª etapa · cadastro do dashboard usa NVM/SDL → padronizar p/ NMT/SDR · 1 dos 46 é sobressalente em estoque (45 esteiras físicas).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 i="0">
                <a:solidFill>
                  <a:srgbClr val="6B7885"/>
                </a:solidFill>
                <a:latin typeface="Montserrat"/>
              </a:rPr>
              <a:t>INPASA Agroindustrial S/A  ·  Manutenção &amp; Automação  ·  ref. 02/07/2026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 i="0">
                <a:solidFill>
                  <a:srgbClr val="6B7885"/>
                </a:solidFill>
                <a:latin typeface="Montserra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EAA239"/>
                </a:solidFill>
                <a:latin typeface="Montserrat"/>
              </a:rPr>
              <a:t>DECISÃO E 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15568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Montserrat"/>
              </a:rPr>
              <a:t>Cuidado especial até concluir a substituição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5486400" cy="434340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600" b="1" i="0">
                <a:solidFill>
                  <a:srgbClr val="CC5121"/>
                </a:solidFill>
                <a:latin typeface="Montserrat"/>
              </a:rPr>
              <a:t>Pontos de atenção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7 correias urgentes (&lt;=30 dias) — biomassa (SNP), DDGS (SDR/BLS), julho.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Conclusão do programa depende da SNP (esteiras de cavacos, 30/12/2026).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8620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Biomassa e grãos: maior exposição a incêndio por atrito (rolete/correia).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75488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Janela de transição: risco elevado até a troca de todas as correias.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17320"/>
            <a:ext cx="5486400" cy="434340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600" b="1" i="0">
                <a:solidFill>
                  <a:srgbClr val="609346"/>
                </a:solidFill>
                <a:latin typeface="Montserrat"/>
              </a:rPr>
              <a:t>Encaminhamentos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4884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Segurança e PCM acionados para alinhar com TODAS as áreas cuidado reforçado até concluir a substituição das correias.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01752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Priorizar as correias urgentes de julho (biomassa/DDGS).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88620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Reporte quinzenal de avanço por unidade (concluídas x plano).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5488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Padronizar cadastro na origem (NVM/SDL → NMT/SDR).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 i="0">
                <a:solidFill>
                  <a:srgbClr val="6B7885"/>
                </a:solidFill>
                <a:latin typeface="Montserrat"/>
              </a:rPr>
              <a:t>INPASA Agroindustrial S/A  ·  Manutenção &amp; Automação  ·  ref. 02/07/2026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 i="0">
                <a:solidFill>
                  <a:srgbClr val="6B7885"/>
                </a:solidFill>
                <a:latin typeface="Montserrat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