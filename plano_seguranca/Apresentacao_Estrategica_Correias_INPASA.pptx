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Inter"/>
              </a:rPr>
              <a:t>🏭  INPASA  •  APRESENTAÇÃO À DIRETORIA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645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Plano de Substituição de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Correias Transportadoras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CA3AF"/>
                </a:solidFill>
                <a:latin typeface="Inter"/>
              </a:rPr>
              <a:t>Status do programa e cronograma de regularização por unidade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9CA3AF"/>
                </a:solidFill>
                <a:latin typeface="Inter"/>
              </a:rPr>
              <a:t>Nova Mutum • Sinop • Sidrolândia • Balsas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Gestão de Manutenção Industrial  |  Data de referência: 02/07/2026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A PERGUNTA DA DIRETORIA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Inter"/>
              </a:rPr>
              <a:t>Quando cada unidade estará regularizada?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201400" cy="777240"/>
          </a:xfrm>
          <a:prstGeom prst="roundRect">
            <a:avLst/>
          </a:prstGeom>
          <a:solidFill>
            <a:srgbClr val="252538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7772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Programa 100% regularizado até  10/10/2026   |   43 correias no plano  •  2 já substituídas  •  10 urgentes (≤30 dias)  •  ⚠ 1 vencida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697480" cy="28803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269748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Inter"/>
              </a:rPr>
              <a:t>NVM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Nova Mutum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23317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Inter"/>
              </a:rPr>
              <a:t>REGULARIZADA 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0168"/>
            <a:ext cx="233172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Inter"/>
              </a:rPr>
              <a:t>10/10/2026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39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E0E0"/>
                </a:solidFill>
                <a:latin typeface="Inter"/>
              </a:rPr>
              <a:t>São 15 esteiras no plano. A última será concluída em 10/10/2026 — data de regularização da unidade.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73752"/>
            <a:ext cx="23317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Inter"/>
              </a:rPr>
              <a:t>⚠ 1 vencida (atrasada)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2331720"/>
            <a:ext cx="2697480" cy="28803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2331720"/>
            <a:ext cx="269748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2" y="2587752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Inter"/>
              </a:rPr>
              <a:t>SNP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89864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Sinop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3383280"/>
            <a:ext cx="23317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Inter"/>
              </a:rPr>
              <a:t>REGULARIZADA 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3630168"/>
            <a:ext cx="233172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  <a:latin typeface="Inter"/>
              </a:rPr>
              <a:t>30/09/2026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4206239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E0E0"/>
                </a:solidFill>
                <a:latin typeface="Inter"/>
              </a:rPr>
              <a:t>São 21 esteiras no plano; 1 já substituída. A última será concluída em 30/09/2026.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2331720"/>
            <a:ext cx="2697480" cy="28803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5624" y="2331720"/>
            <a:ext cx="2697480" cy="1097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2587752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Inter"/>
              </a:rPr>
              <a:t>SDL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89864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Sidrolândia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383280"/>
            <a:ext cx="23317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Inter"/>
              </a:rPr>
              <a:t>REGULARIZADA 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3630168"/>
            <a:ext cx="233172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Inter"/>
              </a:rPr>
              <a:t>30/09/2026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206239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E0E0"/>
                </a:solidFill>
                <a:latin typeface="Inter"/>
              </a:rPr>
              <a:t>São 2 esteiras no plano. Ambas concluídas até 30/09/2026 — unidade regularizada nessa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1976" y="2331720"/>
            <a:ext cx="2697480" cy="28803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51976" y="2331720"/>
            <a:ext cx="2697480" cy="10972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4856" y="2587752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Inter"/>
              </a:rPr>
              <a:t>BLS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289864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Balsas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383280"/>
            <a:ext cx="23317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Inter"/>
              </a:rPr>
              <a:t>REGULARIZADA 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3630168"/>
            <a:ext cx="233172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Inter"/>
              </a:rPr>
              <a:t>30/09/2026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4206239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0E0E0"/>
                </a:solidFill>
                <a:latin typeface="Inter"/>
              </a:rPr>
              <a:t>São 4 esteiras + 1 sobressalente em estoque; 1 já substituída. Última em 30/09/2026.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INPASA  •  Plano de Substituição de Correias Transportadoras  •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LINHA DO TEMPO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Inter"/>
              </a:rPr>
              <a:t>Marcos de regularização (jul → out/2026)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00200"/>
            <a:ext cx="12700" cy="4023360"/>
          </a:xfrm>
          <a:prstGeom prst="rect">
            <a:avLst/>
          </a:prstGeom>
          <a:solidFill>
            <a:srgbClr val="2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5819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Julho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7680" y="1600200"/>
            <a:ext cx="12700" cy="4023360"/>
          </a:xfrm>
          <a:prstGeom prst="rect">
            <a:avLst/>
          </a:prstGeom>
          <a:solidFill>
            <a:srgbClr val="2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7680" y="15819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Agosto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7921" y="1600200"/>
            <a:ext cx="12700" cy="4023360"/>
          </a:xfrm>
          <a:prstGeom prst="rect">
            <a:avLst/>
          </a:prstGeom>
          <a:solidFill>
            <a:srgbClr val="2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7921" y="15819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Setembro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3960" y="1600200"/>
            <a:ext cx="12700" cy="4023360"/>
          </a:xfrm>
          <a:prstGeom prst="rect">
            <a:avLst/>
          </a:prstGeom>
          <a:solidFill>
            <a:srgbClr val="2A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3960" y="15819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Outubro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1641" y="1874520"/>
            <a:ext cx="25400" cy="3703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1601" y="1618488"/>
            <a:ext cx="1097280" cy="256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Inter"/>
              </a:rPr>
              <a:t>HOJE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03120"/>
            <a:ext cx="1783080" cy="8686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NVM</a:t>
            </a:r>
          </a:p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15 correias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304288"/>
            <a:ext cx="7494332" cy="38404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3212" y="2286000"/>
            <a:ext cx="1645920" cy="4114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10/10/2026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1783080" cy="8686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SNP</a:t>
            </a:r>
          </a:p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21 correias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3172968"/>
            <a:ext cx="6752319" cy="38404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1199" y="3154680"/>
            <a:ext cx="1645920" cy="4114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30/09/2026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1783080" cy="8686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Inter"/>
              </a:rPr>
              <a:t>SDL</a:t>
            </a:r>
          </a:p>
          <a:p>
            <a:pPr algn="l"/>
            <a:r>
              <a:rPr sz="1200" b="1">
                <a:solidFill>
                  <a:srgbClr val="22C55E"/>
                </a:solidFill>
                <a:latin typeface="Inter"/>
              </a:rPr>
              <a:t>2 correias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041648"/>
            <a:ext cx="6752319" cy="38404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1199" y="4023360"/>
            <a:ext cx="1645920" cy="4114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30/09/2026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09160"/>
            <a:ext cx="1783080" cy="8686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Inter"/>
              </a:rPr>
              <a:t>BLS</a:t>
            </a:r>
          </a:p>
          <a:p>
            <a:pPr algn="l"/>
            <a:r>
              <a:rPr sz="1200" b="1">
                <a:solidFill>
                  <a:srgbClr val="A855F7"/>
                </a:solidFill>
                <a:latin typeface="Inter"/>
              </a:rPr>
              <a:t>5 correias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910328"/>
            <a:ext cx="6752319" cy="384048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1199" y="4892040"/>
            <a:ext cx="1645920" cy="4114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30/09/2026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Inter"/>
              </a:rPr>
              <a:t>Conclusão do programa: 10/10/2026 (última correia — Nova Mutum / DDGS).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INPASA  •  Plano de Substituição de Correias Transportadoras  •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VISÃO CONSOLIDADA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Inter"/>
              </a:rPr>
              <a:t>Resumo executivo por unidade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240280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Unidade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17320"/>
            <a:ext cx="1344168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344168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Correias</a:t>
            </a:r>
          </a:p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no plano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7368" y="1417320"/>
            <a:ext cx="1344168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417320"/>
            <a:ext cx="1344168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Já</a:t>
            </a:r>
          </a:p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substituídas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31536" y="1417320"/>
            <a:ext cx="1232154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6" y="1417320"/>
            <a:ext cx="1232154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Em</a:t>
            </a:r>
          </a:p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execução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3690" y="1417320"/>
            <a:ext cx="1680210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3690" y="1417320"/>
            <a:ext cx="168021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Próxima</a:t>
            </a:r>
          </a:p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substituição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43900" y="1417320"/>
            <a:ext cx="1680210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1417320"/>
            <a:ext cx="168021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Regularização</a:t>
            </a:r>
          </a:p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(última)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24110" y="1417320"/>
            <a:ext cx="1680210" cy="640080"/>
          </a:xfrm>
          <a:prstGeom prst="rect">
            <a:avLst/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4110" y="1417320"/>
            <a:ext cx="168021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Inter"/>
              </a:rPr>
              <a:t>Alerta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57400"/>
            <a:ext cx="224028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05740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Inter"/>
              </a:rPr>
              <a:t>Nova Mutum (NVM)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057400"/>
            <a:ext cx="1344168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05740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2057400"/>
            <a:ext cx="1344168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87368" y="205740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1536" y="2057400"/>
            <a:ext cx="1232154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6" y="2057400"/>
            <a:ext cx="1232154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3690" y="205740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3690" y="205740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09/05/2026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43900" y="205740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3900" y="205740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Inter"/>
              </a:rPr>
              <a:t>10/10/2026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24110" y="205740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24110" y="205740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Inter"/>
              </a:rPr>
              <a:t>1 vencida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560320"/>
            <a:ext cx="224028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6032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Inter"/>
              </a:rPr>
              <a:t>Sinop (SNP)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2560320"/>
            <a:ext cx="1344168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256032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87368" y="2560320"/>
            <a:ext cx="1344168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87368" y="256032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31536" y="2560320"/>
            <a:ext cx="1232154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31536" y="2560320"/>
            <a:ext cx="1232154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63690" y="256032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3690" y="256032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17/07/2026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43900" y="256032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3900" y="256032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Inter"/>
              </a:rPr>
              <a:t>30/09/2026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24110" y="256032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24110" y="256032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AB308"/>
                </a:solidFill>
                <a:latin typeface="Inter"/>
              </a:rPr>
              <a:t>5 urgentes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063240"/>
            <a:ext cx="224028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06324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Inter"/>
              </a:rPr>
              <a:t>Sidrolândia (SDL)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3063240"/>
            <a:ext cx="1344168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306324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87368" y="3063240"/>
            <a:ext cx="1344168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87368" y="306324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31536" y="3063240"/>
            <a:ext cx="1232154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31536" y="3063240"/>
            <a:ext cx="1232154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63690" y="306324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63690" y="306324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17/07/2026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43900" y="306324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43900" y="306324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Inter"/>
              </a:rPr>
              <a:t>30/09/2026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24110" y="3063240"/>
            <a:ext cx="1680210" cy="50292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24110" y="306324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AB308"/>
                </a:solidFill>
                <a:latin typeface="Inter"/>
              </a:rPr>
              <a:t>1 urgentes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566160"/>
            <a:ext cx="224028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56616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Inter"/>
              </a:rPr>
              <a:t>Balsas (BLS)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3566160"/>
            <a:ext cx="1344168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0" y="356616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87368" y="3566160"/>
            <a:ext cx="1344168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87368" y="356616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31536" y="3566160"/>
            <a:ext cx="1232154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31536" y="3566160"/>
            <a:ext cx="1232154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63690" y="356616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63690" y="356616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Inter"/>
              </a:rPr>
              <a:t>17/07/2026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43900" y="356616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3900" y="356616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0E0E0"/>
                </a:solidFill>
                <a:latin typeface="Inter"/>
              </a:rPr>
              <a:t>30/09/2026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24110" y="3566160"/>
            <a:ext cx="1680210" cy="50292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24110" y="356616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EAB308"/>
                </a:solidFill>
                <a:latin typeface="Inter"/>
              </a:rPr>
              <a:t>3 urgentes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4069080"/>
            <a:ext cx="224028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069080"/>
            <a:ext cx="224028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100" b="1">
                <a:solidFill>
                  <a:srgbClr val="0F0F1A"/>
                </a:solidFill>
                <a:latin typeface="Inter"/>
              </a:rPr>
              <a:t>TOTAL (4 unidades)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4069080"/>
            <a:ext cx="134416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0" y="406908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43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87368" y="4069080"/>
            <a:ext cx="1344168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87368" y="4069080"/>
            <a:ext cx="1344168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31536" y="4069080"/>
            <a:ext cx="1232154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31536" y="4069080"/>
            <a:ext cx="1232154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41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63690" y="4069080"/>
            <a:ext cx="168021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63690" y="406908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43900" y="4069080"/>
            <a:ext cx="168021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43900" y="406908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10/10/2026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24110" y="4069080"/>
            <a:ext cx="1680210" cy="5029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24110" y="4069080"/>
            <a:ext cx="1680210" cy="5029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100" b="1">
                <a:solidFill>
                  <a:srgbClr val="0F0F1A"/>
                </a:solidFill>
                <a:latin typeface="Inter"/>
              </a:rPr>
              <a:t>1 venc / 10 urg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INPASA  •  Plano de Substituição de Correias Transportadoras  •  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Inter"/>
              </a:rPr>
              <a:t>Pontos de atenção e próximos passos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44805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Inter"/>
              </a:rPr>
              <a:t>⚠  Riscos / prioridades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NVM: 1 correia VENCIDA (atrasada desde 09/05/2026) — regularizar imediatamente.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10 correias urgentes (≤30 dias), concentradas em 17/07 e 01/08 — biomassa (SNP), DDGS (SDL/BLS).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68496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Áreas de biomassa e grãos: maior exposição a incêndio por atrito (rolete/correia).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01184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Conclusão do programa depende de NVM (última em 10/10/2026).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86400" cy="44805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Inter"/>
              </a:rPr>
              <a:t>✓  Próximos passos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Priorizar a correia vencida de NVM e as urgentes de 17/07 nesta semana.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Confirmar disponibilidade de correia antichama e mão de obra para o pico de set/2026.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68496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Reportar avanço quinzenal por unidade (esteiras concluídas x plano).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01184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0E0E0"/>
                </a:solidFill>
                <a:latin typeface="Inter"/>
              </a:rPr>
              <a:t>•  Antecipar itens de NVM para fechar o programa antes de 10/10/2026, se possível.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INPASA  •  Plano de Substituição de Correias Transportadoras  •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