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73152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1C40F"/>
                </a:solidFill>
                <a:latin typeface="Calibri"/>
              </a:rPr>
              <a:t>INPASA  •  PRODUÇÃO DE ETANOL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Plano de Ação de Segurança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Instrumentação, Automação e Prevenção de Incêndio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6984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CFDDE8"/>
                </a:solidFill>
                <a:latin typeface="Calibri"/>
              </a:rPr>
              <a:t>Áreas críticas: Armazenagem de Grãos • Torres de Resfriamento • Caldeira (transportadores) • Destilaria</a:t>
            </a:r>
          </a:p>
          <a:p>
            <a:pPr algn="l"/>
            <a:r>
              <a:rPr sz="1600" b="0">
                <a:solidFill>
                  <a:srgbClr val="CFDDE8"/>
                </a:solidFill>
                <a:latin typeface="Calibri"/>
              </a:rPr>
              <a:t>Escopo: 4 a 6 unidades  |  Contexto: Manutenção &amp; Automação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9FB4C4"/>
                </a:solidFill>
                <a:latin typeface="Calibri"/>
              </a:rPr>
              <a:t>Documento de trabalho — versão preliminar para priorização  •  Junho/2026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  <a:latin typeface="Calibri"/>
              </a:rPr>
              <a:t>VISÃO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Sumário Executivo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 Objetivo: garantir a funcionalidade da instrumentação e reduzir o risco de incêndio nas áreas de maior histórico de acidentes.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 Diagnóstico mostra que os incêndios em grãos NÃO foram apenas princípios de fogo — houve incêndios recorrentes.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444444"/>
                </a:solidFill>
                <a:latin typeface="Calibri"/>
              </a:rPr>
              <a:t>–  Causa raiz nº1 (grãos): roletes travando → atrito → ignição, agravado por correias sem proteção antichama.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444444"/>
                </a:solidFill>
                <a:latin typeface="Calibri"/>
              </a:rPr>
              <a:t>–  Causa raiz nº2 (torres): respingo de solda no recheio durante trabalho a quente.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444444"/>
                </a:solidFill>
                <a:latin typeface="Calibri"/>
              </a:rPr>
              <a:t>–  Causa raiz nº3 (caldeira): fogo nos transportadores de alimentação (mesma natureza dos grãos).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 A inspeção visual por operador já se mostrou insuficiente → migrar para detecção instrumentada + intertravamento.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 Estratégia recomendada: DEFESA EM CAMADAS — Prevenção → Detecção → Supressão → Gestão.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 Programa faseado (Fase 0 a 3), replicável nas 4–6 unidades, com priorização por risco e causa raiz.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  <a:latin typeface="Calibri"/>
              </a:rPr>
              <a:t>DIAGNÓSTICO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Áreas críticas e causa raiz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1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4481"/>
                <a:gridCol w="4161434"/>
                <a:gridCol w="5061204"/>
              </a:tblGrid>
              <a:tr h="914400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Área</a:t>
                      </a:r>
                    </a:p>
                  </a:txBody>
                  <a:tcPr marL="63500" marR="63500" marT="25400" marB="25400"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Situação atual</a:t>
                      </a:r>
                    </a:p>
                  </a:txBody>
                  <a:tcPr marL="63500" marR="63500" marT="25400" marB="25400"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Causa raiz do incêndio/acidente</a:t>
                      </a:r>
                    </a:p>
                  </a:txBody>
                  <a:tcPr marL="63500" marR="63500" marT="25400" marB="25400" anchor="ctr">
                    <a:solidFill>
                      <a:srgbClr val="0B3D5C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Armazenagem de grãos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Termometria de silo OK. Patinagem parcial. Sem detecção de fagulha.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Roletes travando + correia não-antichama. Housekeeping de poeira deficiente.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Torres de resfriamento</a:t>
                      </a:r>
                    </a:p>
                  </a:txBody>
                  <a:tcPr marL="63500" marR="63500" marT="25400" marB="254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Incêndios durante manutenção.</a:t>
                      </a:r>
                    </a:p>
                  </a:txBody>
                  <a:tcPr marL="63500" marR="63500" marT="25400" marB="254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Respingo de solda cai no recheio (fill) — trabalho a quente sem barreira.</a:t>
                      </a:r>
                    </a:p>
                  </a:txBody>
                  <a:tcPr marL="63500" marR="63500" marT="25400" marB="25400" anchor="ctr">
                    <a:solidFill>
                      <a:srgbClr val="F2F4F6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Caldeira (biomassa)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Câmera termográfica anuncia no supervisório. Acidentes ≠ fogo.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Fogo ocorre nos transportadores de alimentação (correia/rolete).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Destilaria</a:t>
                      </a:r>
                    </a:p>
                  </a:txBody>
                  <a:tcPr marL="63500" marR="63500" marT="25400" marB="254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Área classificada, controle mais maduro.</a:t>
                      </a:r>
                    </a:p>
                  </a:txBody>
                  <a:tcPr marL="63500" marR="63500" marT="25400" marB="254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Incidentes pequenos — prioridade menor (manter conformidade Ex).</a:t>
                      </a:r>
                    </a:p>
                  </a:txBody>
                  <a:tcPr marL="63500" marR="63500" marT="25400" marB="254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Plano de Ação de Segurança — INPASA  |  Manutenção &amp; Automação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  <a:latin typeface="Calibri"/>
              </a:rPr>
              <a:t>PRIORIZAÇÃO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Matriz de risco (qualitativa)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38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6980"/>
                <a:gridCol w="2102205"/>
                <a:gridCol w="2102205"/>
                <a:gridCol w="2212848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Área / Cenário</a:t>
                      </a:r>
                    </a:p>
                  </a:txBody>
                  <a:tcPr marL="63500" marR="63500" marT="25400" marB="25400"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Probabilidade</a:t>
                      </a:r>
                    </a:p>
                  </a:txBody>
                  <a:tcPr marL="63500" marR="63500" marT="25400" marB="25400"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Severidade</a:t>
                      </a:r>
                    </a:p>
                  </a:txBody>
                  <a:tcPr marL="63500" marR="63500" marT="25400" marB="25400"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Risco</a:t>
                      </a:r>
                    </a:p>
                  </a:txBody>
                  <a:tcPr marL="63500" marR="63500" marT="25400" marB="25400" anchor="ctr">
                    <a:solidFill>
                      <a:srgbClr val="0B3D5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Grãos — incêndio por rolete/correia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CRÍTICO</a:t>
                      </a:r>
                    </a:p>
                  </a:txBody>
                  <a:tcPr marL="63500" marR="63500" marT="25400" marB="25400" anchor="ctr">
                    <a:solidFill>
                      <a:srgbClr val="C0392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Grãos — explosão de poeira</a:t>
                      </a:r>
                    </a:p>
                  </a:txBody>
                  <a:tcPr marL="63500" marR="63500" marT="25400" marB="254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Média</a:t>
                      </a:r>
                    </a:p>
                  </a:txBody>
                  <a:tcPr marL="63500" marR="63500" marT="25400" marB="254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Muito alta</a:t>
                      </a:r>
                    </a:p>
                  </a:txBody>
                  <a:tcPr marL="63500" marR="63500" marT="25400" marB="254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CRÍTICO</a:t>
                      </a:r>
                    </a:p>
                  </a:txBody>
                  <a:tcPr marL="63500" marR="63500" marT="25400" marB="25400" anchor="ctr">
                    <a:solidFill>
                      <a:srgbClr val="C0392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Torres — ignição do recheio (solda)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Média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 marL="63500" marR="63500" marT="25400" marB="25400" anchor="ctr">
                    <a:solidFill>
                      <a:srgbClr val="E86A1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Caldeira — fogo nos transportadores</a:t>
                      </a:r>
                    </a:p>
                  </a:txBody>
                  <a:tcPr marL="63500" marR="63500" marT="25400" marB="254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Média</a:t>
                      </a:r>
                    </a:p>
                  </a:txBody>
                  <a:tcPr marL="63500" marR="63500" marT="25400" marB="254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63500" marR="63500" marT="25400" marB="254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 marL="63500" marR="63500" marT="25400" marB="25400" anchor="ctr">
                    <a:solidFill>
                      <a:srgbClr val="E86A1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Destilaria — vazamento/ignição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Baixa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Muito alta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MÉDIO</a:t>
                      </a:r>
                    </a:p>
                  </a:txBody>
                  <a:tcPr marL="63500" marR="63500" marT="25400" marB="25400" anchor="ctr">
                    <a:solidFill>
                      <a:srgbClr val="F1C40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0B3D5C"/>
                </a:solidFill>
                <a:latin typeface="Calibri"/>
              </a:rPr>
              <a:t>Prioridade de execução: itens CRÍTICOS primeiro (grãos), depois ALTOS (torres e caldeira).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Plano de Ação de Segurança — INPASA  |  Manutenção &amp; Automação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  <a:latin typeface="Calibri"/>
              </a:rPr>
              <a:t>ESTRATÉGIA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Defesa em camadas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834640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2651760" cy="10515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1. PREVENÇÃO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417320"/>
            <a:ext cx="8275320" cy="105156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417320"/>
            <a:ext cx="7955279" cy="10515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Calibri"/>
              </a:rPr>
              <a:t>Eliminar a causa antes do fogo: monitorar patinagem, temperatura de mancal, alinhamento; controle de poeira; PT de trabalho a quente.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24328"/>
            <a:ext cx="2834640" cy="105156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24328"/>
            <a:ext cx="2651760" cy="10515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2. DETECÇÃO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624328"/>
            <a:ext cx="8275320" cy="105156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624328"/>
            <a:ext cx="7955279" cy="10515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Calibri"/>
              </a:rPr>
              <a:t>Detectar cedo: detecção de fagulha nos chutes, cabo de calor (LHD) na correia, termografia, CO em silos.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31336"/>
            <a:ext cx="2834640" cy="1051560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31336"/>
            <a:ext cx="2651760" cy="10515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3. SUPRESSÃO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3831336"/>
            <a:ext cx="8275320" cy="105156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3831336"/>
            <a:ext cx="7955279" cy="10515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Calibri"/>
              </a:rPr>
              <a:t>Conter o evento: extinção de fagulha por água, dilúvio/água-névoa zoneada, parada segura automática.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38344"/>
            <a:ext cx="2834640" cy="1051560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038344"/>
            <a:ext cx="2651760" cy="10515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4. GESTÃO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5038344"/>
            <a:ext cx="8275320" cy="105156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5038344"/>
            <a:ext cx="7955279" cy="10515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Calibri"/>
              </a:rPr>
              <a:t>Sustentar: integração ao SCADA/Rockwell, KPIs, plano de calibração, CMMS e auditoria das PTs.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Plano de Ação de Segurança — INPASA  |  Manutenção &amp; Automação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  <a:latin typeface="Calibri"/>
              </a:rPr>
              <a:t>FASE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Diagnóstico e levantamento (base de tudo)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E86A17"/>
                </a:solidFill>
                <a:latin typeface="Calibri"/>
              </a:rPr>
              <a:t>Prazo sugerido: 0–60 dias  •  baixo custo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11247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Inventário/TAG de TODOS os elevadores e correias por unidade (você indicou 30–50 por unidade).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Levantar quais já têm detecção de PATINAGEM e quais NÃO têm.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Levantar quais têm DETECÇÃO DE FAGULHA e o tipo de sensor existente.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Mapear pontos de transferência/chutes (onde entra fagulha) e correias longas (onde entra LHD).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Mapear correias que ainda NÃO são antichama (cruzar com o plano de troca Continental em andamento).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Diagnóstico de housekeeping de poeira e cotação com fornecedores de despoeiramento.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71500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CAPEX estimado: Engenharia/consultoria ~ R$ 50 mil a R$ 120 mil (ou execução interna pelo PCM).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Plano de Ação de Segurança — INPASA  |  Manutenção &amp; Automação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  <a:latin typeface="Calibri"/>
              </a:rPr>
              <a:t>FASE 1 — PRIORIDADE MÁXIMA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Atacar a causa raiz dos grãos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E86A17"/>
                </a:solidFill>
                <a:latin typeface="Calibri"/>
              </a:rPr>
              <a:t>Prazo sugerido: 2–6 meses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11247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Completar DETECÇÃO DE PATINAGEM (zero-speed) nos elevadores/correias faltantes, integrada ao PLC com parada segura.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Instalar TEMPERATURA DE MANCAL online nos elevadores e polias críticas (hoje o monitoramento varia/não há) — alarme + intertravamento.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Acelerar a troca por CORREIA ANTICHAMA Continental (programa já em andamento).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Reforçar a PERMISSÃO DE TRABALHO A QUENTE: vigia de fogo, isolamento, proteção do recheio/correia — com auditoria (hoje há negligências).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Programa de HOUSEKEEPING / despoeiramento nos pontos de acúmulo (reduz risco de explosão).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71500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CAPEX estimado: ~ R$ 650 mil em sensores (base 200 equip.) + housekeeping a cotar + correias (programa existente).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Plano de Ação de Segurança — INPASA  |  Manutenção &amp; Automação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  <a:latin typeface="Calibri"/>
              </a:rPr>
              <a:t>FASE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Detecção e supressão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E86A17"/>
                </a:solidFill>
                <a:latin typeface="Calibri"/>
              </a:rPr>
              <a:t>Prazo sugerido: 6–18 meses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11247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DETECÇÃO DE FAGULHA (GreCon ou Firefly) nos pontos de transferência críticos de grãos e nos transportadores da caldeira.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CABO DE DETECÇÃO LINEAR DE CALOR (LHD) ao longo das correias longas (Protectowire/Securiton).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TORRES: proteção do recheio durante serviço + estudo de dilúvio/água-névoa; tratar como item de trabalho a quente.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Detecção de CO / autoaquecimento onde aplicável na armazenagem.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Supressão por água (extinção de fagulha) acionando PARADA SEGURA automática.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71500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CAPEX estimado: Ordem de R$ 2 a 3 milhões no programa (sistemas cotados por projeto).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Plano de Ação de Segurança — INPASA  |  Manutenção &amp; Automação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  <a:latin typeface="Calibri"/>
              </a:rPr>
              <a:t>FASE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Automação, integração e gestão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E86A17"/>
                </a:solidFill>
                <a:latin typeface="Calibri"/>
              </a:rPr>
              <a:t>Prazo sugerido: 12–24 meses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11247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Integrar todos os sensores e detecções ao SCADA / Rockwell (FactoryTalk) com tela única de status de segurança.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Dashboards e KPIs de confiabilidade (MTBF, MTTR, disponibilidade, % calibração em dia).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Termografia FIXA Ex nos pontos críticos (chutes, mancais, CCM) já anunciando no supervisório (como já existe na caldeira).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Plano de calibração e CMMS para registrar inspeção/troca de roletes (substituir o controle manual).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Avaliar conformidade NR-13 da caldeira (gerenciador de chama/BMS) — fora da prioridade de incêndio atual.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71500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CAPEX estimado: Ordem de R$ 0,5 a 1 milhão no programa.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Plano de Ação de Segurança — INPASA  |  Manutenção &amp; Automação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  <a:latin typeface="Calibri"/>
              </a:rPr>
              <a:t>SEGURANÇA DE MÁQUINAS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Parada de emergência em esteiras longas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Em correia longa NÃO se usa botoeira espaçada por distância — usa-se CHAVE DE EMERGÊNCIA POR CABO (pull-cord / trip-wire).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NR-12 (transportadores contínuos): o dispositivo deve ser acionável AO LONGO DE TODA A EXTENSÃO. Botoeira pontual não atende; o cabo atende.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ABNT NBR ISO 13850: o acionador deve estar acessível de QUALQUER ponto de circulação.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Prática: cabo dos dois lados onde há circulação; cada chave cobre ~80–100 m de cabo.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444444"/>
                </a:solidFill>
                <a:latin typeface="Calibri"/>
              </a:rPr>
              <a:t>–  Esteira de 120–150 m → tipicamente 2 chaves (uma de cada extremidade) ou 1 central.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Resultado: a 'distância a percorrer' tende a ZERO — o operador puxa o cabo no ponto onde está.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97280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0B3D5C"/>
                </a:solidFill>
                <a:latin typeface="Calibri"/>
              </a:rPr>
              <a:t>Atenção: se a sua dúvida for distância de fuga até o SOLO em passarela elevada, o critério é outro (rota de fuga / escadas de acesso) — definir após confirmar o layout das passarelas.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Plano de Ação de Segurança — INPASA  |  Manutenção &amp; Automação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  <a:latin typeface="Calibri"/>
              </a:rPr>
              <a:t>FORNECEDORES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Tecnologia × fornecedor recomendado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19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8848"/>
                <a:gridCol w="3824020"/>
                <a:gridCol w="2924251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Tecnologia</a:t>
                      </a:r>
                    </a:p>
                  </a:txBody>
                  <a:tcPr marL="63500" marR="63500" marT="25400" marB="25400"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Fornecedor ideal</a:t>
                      </a:r>
                    </a:p>
                  </a:txBody>
                  <a:tcPr marL="63500" marR="63500" marT="25400" marB="25400"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Custo de referência</a:t>
                      </a:r>
                    </a:p>
                  </a:txBody>
                  <a:tcPr marL="63500" marR="63500" marT="25400" marB="25400" anchor="ctr">
                    <a:solidFill>
                      <a:srgbClr val="0B3D5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Patinagem / velocidade / alinhamento / temp. mancal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4B Braime (Go4B), Electro-Sensors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~ R$ 2.500 / sensor (compra+instal.)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Detecção de fagulha (spark detection)</a:t>
                      </a:r>
                    </a:p>
                  </a:txBody>
                  <a:tcPr marL="63500" marR="63500" marT="25400" marB="254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GreCon (Fagus-GreCon), Firefly</a:t>
                      </a:r>
                    </a:p>
                  </a:txBody>
                  <a:tcPr marL="63500" marR="63500" marT="25400" marB="254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Sistema por projeto (US$ 30–80k)</a:t>
                      </a:r>
                    </a:p>
                  </a:txBody>
                  <a:tcPr marL="63500" marR="63500" marT="25400" marB="25400" anchor="ctr">
                    <a:solidFill>
                      <a:srgbClr val="F2F4F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Cabo linear de calor (LHD) / DTS fibra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Protectowire, Securiton; AP Sensing/Bandweaver (DTS)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Cabo + painel por correia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Correia antichama</a:t>
                      </a:r>
                    </a:p>
                  </a:txBody>
                  <a:tcPr marL="63500" marR="63500" marT="25400" marB="254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Continental (ContiTech) — em andamento</a:t>
                      </a:r>
                    </a:p>
                  </a:txBody>
                  <a:tcPr marL="63500" marR="63500" marT="25400" marB="254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Programa existente</a:t>
                      </a:r>
                    </a:p>
                  </a:txBody>
                  <a:tcPr marL="63500" marR="63500" marT="25400" marB="25400" anchor="ctr">
                    <a:solidFill>
                      <a:srgbClr val="F2F4F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Termografia (preditiva / fixa Ex)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FLIR (Teledyne), Fluke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Portátil R$ 15–40k; fixa por ponto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Chave de emergência por cabo</a:t>
                      </a:r>
                    </a:p>
                  </a:txBody>
                  <a:tcPr marL="63500" marR="63500" marT="25400" marB="254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Steute, Bernstein, Rees, IFM</a:t>
                      </a:r>
                    </a:p>
                  </a:txBody>
                  <a:tcPr marL="63500" marR="63500" marT="25400" marB="254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~ R$ 3–8k / chave</a:t>
                      </a:r>
                    </a:p>
                  </a:txBody>
                  <a:tcPr marL="63500" marR="63500" marT="25400" marB="254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Plano de Ação de Segurança — INPASA  |  Manutenção &amp; Automação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  <a:latin typeface="Calibri"/>
              </a:rPr>
              <a:t>INVESTIMENTO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CAPEX estimado por fase (programa 4–6 unidades)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4711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9654"/>
                <a:gridCol w="6523329"/>
                <a:gridCol w="3374136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Fase</a:t>
                      </a:r>
                    </a:p>
                  </a:txBody>
                  <a:tcPr marL="63500" marR="63500" marT="25400" marB="25400"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Escopo principal</a:t>
                      </a:r>
                    </a:p>
                  </a:txBody>
                  <a:tcPr marL="63500" marR="63500" marT="25400" marB="25400"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CAPEX estimado</a:t>
                      </a:r>
                    </a:p>
                  </a:txBody>
                  <a:tcPr marL="63500" marR="63500" marT="25400" marB="25400" anchor="ctr">
                    <a:solidFill>
                      <a:srgbClr val="0B3D5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Fase 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Diagnóstico / levantamento de sensores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R$ 50 – 120 mil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Fase 1</a:t>
                      </a:r>
                    </a:p>
                  </a:txBody>
                  <a:tcPr marL="63500" marR="63500" marT="25400" marB="254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Causa raiz grãos (patinagem, temp. mancal, PT, poeira)</a:t>
                      </a:r>
                    </a:p>
                  </a:txBody>
                  <a:tcPr marL="63500" marR="63500" marT="25400" marB="254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~ R$ 650 mil + housekeeping a cotar</a:t>
                      </a:r>
                    </a:p>
                  </a:txBody>
                  <a:tcPr marL="63500" marR="63500" marT="25400" marB="25400" anchor="ctr">
                    <a:solidFill>
                      <a:srgbClr val="F2F4F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Fase 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Detecção de fagulha + LHD + torres + supressão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R$ 2 – 3 milhões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Fase 3</a:t>
                      </a:r>
                    </a:p>
                  </a:txBody>
                  <a:tcPr marL="63500" marR="63500" marT="25400" marB="254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Automação, integração SCADA, KPIs, termografia fixa</a:t>
                      </a:r>
                    </a:p>
                  </a:txBody>
                  <a:tcPr marL="63500" marR="63500" marT="25400" marB="254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R$ 0,5 – 1 milhão</a:t>
                      </a:r>
                    </a:p>
                  </a:txBody>
                  <a:tcPr marL="63500" marR="63500" marT="25400" marB="25400" anchor="ctr">
                    <a:solidFill>
                      <a:srgbClr val="F2F4F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63500" marR="63500" marT="25400" marB="25400"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Programa completo, faseado, replicável nas unidades</a:t>
                      </a:r>
                    </a:p>
                  </a:txBody>
                  <a:tcPr marL="63500" marR="63500" marT="25400" marB="25400"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Ordem de R$ 5 – 9 milhões</a:t>
                      </a:r>
                    </a:p>
                  </a:txBody>
                  <a:tcPr marL="63500" marR="63500" marT="25400" marB="25400" anchor="ctr">
                    <a:solidFill>
                      <a:srgbClr val="0B3D5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  <a:latin typeface="Calibri"/>
              </a:rPr>
              <a:t>Estimativas preliminares (ordem de grandeza) com base em 200 equipamentos (≈40 × 5 unidades) e R$ 2.500/sensor. Valores de sistemas (fagulha, supressão) exigem cotação por projeto.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Plano de Ação de Segurança — INPASA  |  Manutenção &amp; Automação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  <a:latin typeface="Calibri"/>
              </a:rPr>
              <a:t>CONFORMIDADE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Normas e referências aplicáveis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NR-12 — Segurança em máquinas (transportadores, parada de emergência).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NR-13 — Caldeiras e vasos de pressão.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NR-23 — Proteção contra incêndios.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NR-33 / NR-35 — Espaço confinado / trabalho em altura.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ABNT NBR ISO 13850 — Parada de emergência.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ABNT NBR ISO 13849 / IEC 62061 — PL/SIL de segurança.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ABNT NBR IEC 60079 — Atmosferas explosivas (Ex), destilaria.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 NFPA 61 / 654 — Poeira combustível (grãos).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Plano de Ação de Segurança — INPASA  |  Manutenção &amp; Automação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  <a:latin typeface="Calibri"/>
              </a:rPr>
              <a:t>EXECUÇÃO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2697480" cy="1554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697480" cy="10058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FASE 0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Diagnóstico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2697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0–2 m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4992" y="2194560"/>
            <a:ext cx="2697480" cy="1554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2" y="2286000"/>
            <a:ext cx="2697480" cy="10058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FASE 1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Causa raiz grãos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3246120"/>
            <a:ext cx="2697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2–6 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2194560"/>
            <a:ext cx="2697480" cy="1554480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2286000"/>
            <a:ext cx="2697480" cy="10058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FASE 2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Detecção/supressão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1344" y="3246120"/>
            <a:ext cx="2697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6–18 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97696" y="2194560"/>
            <a:ext cx="2697480" cy="155448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2286000"/>
            <a:ext cx="2697480" cy="10058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FASE 3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Automação/gestão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3246120"/>
            <a:ext cx="2697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12–24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1097280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  <a:latin typeface="Calibri"/>
              </a:rPr>
              <a:t>As fases podem rodar em paralelo entre unidades. Recomenda-se iniciar a Fase 1 numa unidade-piloto, validar resultados e replicar nas demais (4–6 unidades).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Plano de Ação de Segurança — INPASA  |  Manutenção &amp; Automação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  <a:latin typeface="Calibri"/>
              </a:rPr>
              <a:t>DECISÕES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Próximos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 Aprovar a Fase 0 (diagnóstico) e definir a unidade-piloto.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 Confirmar número exato de equipamentos por unidade para fechar o CAPEX.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 Confirmar marcas para padronização: controlador Rockwell, sensores Sense, posicionadores (SMAR?), válvulas Bray.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 Definir responsável (PCM/Automação/SESMT) e cronograma de levantamento de sensores.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 Selecionar fornecedores de fagulha (GreCon × Firefly) e disparar cotações.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 Auditar e reforçar o processo de Permissão de Trabalho a Quente (ação de custo baixo e alto impacto).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Plano de Ação de Segurança — INPASA  |  Manutenção &amp; Automação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