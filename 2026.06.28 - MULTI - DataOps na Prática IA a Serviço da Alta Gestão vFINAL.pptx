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>
                <a:solidFill>
                  <a:srgbClr val="102A43"/>
                </a:solidFill>
              </a:rPr>
              <a:t>Alarmes por operador / hora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Alarmes por operador / hora</c:v>
                </c:pt>
              </c:strCache>
            </c:strRef>
          </c:tx>
          <c:dPt>
            <c:idx val="0"/>
            <c:spPr>
              <a:solidFill>
                <a:srgbClr val="169C52"/>
              </a:solidFill>
            </c:spPr>
          </c:dPt>
          <c:dPt>
            <c:idx val="1"/>
            <c:spPr>
              <a:solidFill>
                <a:srgbClr val="D93A3A"/>
              </a:solidFill>
            </c:spPr>
          </c:dPt>
          <c:dPt>
            <c:idx val="2"/>
            <c:spPr>
              <a:solidFill>
                <a:srgbClr val="169C52"/>
              </a:solidFill>
            </c:spPr>
          </c:dPt>
          <c:cat>
            <c:strRef>
              <c:f>Sheet1!$A$2:$A$4</c:f>
              <c:strCache>
                <c:ptCount val="3"/>
                <c:pt idx="0">
                  <c:v>Limite ISA-18.2
(máximo)</c:v>
                </c:pt>
                <c:pt idx="1">
                  <c:v>Média do setor
(hoje)</c:v>
                </c:pt>
                <c:pt idx="2">
                  <c:v>Meta Inpasa
no COI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30</c:v>
                </c:pt>
                <c:pt idx="2">
                  <c:v>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77240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1B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GESTÃO ESTRATÉGICA  ·  AUTOMAÇÃO &amp;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424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DataOps na Prática: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169C52"/>
                </a:solidFill>
                <a:latin typeface="Calibri"/>
              </a:rPr>
              <a:t>IA a Serviço da Alta Gestão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6118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AE8"/>
                </a:solidFill>
                <a:latin typeface="Calibri"/>
              </a:rPr>
              <a:t>Evolução da plataforma de automação da Inpasa  —  </a:t>
            </a:r>
            <a:r>
              <a:rPr sz="1900" b="1" i="0">
                <a:solidFill>
                  <a:srgbClr val="2563EB"/>
                </a:solidFill>
                <a:latin typeface="Calibri"/>
              </a:rPr>
              <a:t>FactoryTalk Optix + DataMosaix</a:t>
            </a:r>
            <a:r>
              <a:rPr sz="1900" b="0" i="0">
                <a:solidFill>
                  <a:srgbClr val="CDDAE8"/>
                </a:solidFill>
                <a:latin typeface="Calibri"/>
              </a:rPr>
              <a:t>  vs.  </a:t>
            </a:r>
            <a:r>
              <a:rPr sz="1900" b="1" i="0">
                <a:solidFill>
                  <a:srgbClr val="F59E0B"/>
                </a:solidFill>
                <a:latin typeface="Calibri"/>
              </a:rPr>
              <a:t>PlantPAx + TracOS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709160"/>
            <a:ext cx="5852160" cy="19050"/>
          </a:xfrm>
          <a:prstGeom prst="rect">
            <a:avLst/>
          </a:prstGeom>
          <a:solidFill>
            <a:srgbClr val="3552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8920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627D98"/>
                </a:solidFill>
                <a:latin typeface="Calibri"/>
              </a:rPr>
              <a:t>Apresentado a:  </a:t>
            </a:r>
            <a:r>
              <a:rPr sz="1400" b="1" i="0">
                <a:solidFill>
                  <a:srgbClr val="FFFFFF"/>
                </a:solidFill>
                <a:latin typeface="Calibri"/>
              </a:rPr>
              <a:t>Sr. José  e  Éder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27D98"/>
                </a:solidFill>
                <a:latin typeface="Calibri"/>
              </a:rPr>
              <a:t>Centro de Operações Integradas (COI)  ·  Benchmarking entre plantas  ·  Manutenção prescritiva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17220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27D98"/>
                </a:solidFill>
                <a:latin typeface="Calibri"/>
              </a:rPr>
              <a:t>2026.06.28  ·  MULTI  ·  vFINAL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Por que olhar para isso agora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334E68"/>
                </a:solidFill>
                <a:latin typeface="Calibri"/>
              </a:rPr>
              <a:t>A Inpasa cresceu de planta única para uma </a:t>
            </a:r>
            <a:r>
              <a:rPr sz="1600" b="1" i="0">
                <a:solidFill>
                  <a:srgbClr val="102A43"/>
                </a:solidFill>
                <a:latin typeface="Calibri"/>
              </a:rPr>
              <a:t>operação multi-unidades</a:t>
            </a:r>
            <a:r>
              <a:rPr sz="1600" b="0" i="0">
                <a:solidFill>
                  <a:srgbClr val="334E68"/>
                </a:solidFill>
                <a:latin typeface="Calibri"/>
              </a:rPr>
              <a:t> (Sinop, Lucas do Rio Verde, Dourados, Balsas e novas plantas). </a:t>
            </a:r>
            <a:r>
              <a:rPr sz="1600" b="1" i="0">
                <a:solidFill>
                  <a:srgbClr val="102A43"/>
                </a:solidFill>
                <a:latin typeface="Calibri"/>
              </a:rPr>
              <a:t>Os dados existem — mas vivem isolados dentro de cada planta.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514600"/>
            <a:ext cx="2606040" cy="1097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563EB"/>
                </a:solidFill>
                <a:latin typeface="Calibri"/>
              </a:rPr>
              <a:t>Reunião estratégica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Encontro Inpasa x Rockwell (26/06) sobre parceria de tecnologia e inovação. Contato principal: Dan DeYoung.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66160" y="2514600"/>
            <a:ext cx="2606040" cy="1097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59E0B"/>
                </a:solidFill>
                <a:latin typeface="Calibri"/>
              </a:rPr>
              <a:t>Dados em silos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Cada unidade tem seu PlantPAx. Não há visão única nem comparação direta entre plantas.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55080" y="2514600"/>
            <a:ext cx="2606040" cy="109728"/>
          </a:xfrm>
          <a:prstGeom prst="round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93A3A"/>
                </a:solidFill>
                <a:latin typeface="Calibri"/>
              </a:rPr>
              <a:t>Decisão reativa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Manutenção corretiva/preventiva e alarmes acima da norma — ainda sem IA prescritiva.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0" y="2514600"/>
            <a:ext cx="2606040" cy="109728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9C52"/>
                </a:solidFill>
                <a:latin typeface="Calibri"/>
              </a:rPr>
              <a:t>Janela de oportunidade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Optix e DataMosaix amadureceram em 2026 (SCADA multi-site + Industrial DataOps).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02A43"/>
                </a:solidFill>
                <a:latin typeface="Calibri"/>
              </a:rPr>
              <a:t>Pergunta central:  </a:t>
            </a:r>
            <a:r>
              <a:rPr sz="1500" b="0" i="1">
                <a:solidFill>
                  <a:srgbClr val="334E68"/>
                </a:solidFill>
                <a:latin typeface="Calibri"/>
              </a:rPr>
              <a:t>como transformar o dado que já geramos em decisão executiva, comparável entre plantas e antecipada por IA?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CENÁRIO ATUAL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 que a Inpasa já tem hoje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52578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554480"/>
            <a:ext cx="5257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PlantPAx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supervisório por planta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23160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DCS/SCADA Rockwell </a:t>
            </a:r>
            <a:r>
              <a:rPr sz="1350">
                <a:solidFill>
                  <a:srgbClr val="334E68"/>
                </a:solidFill>
                <a:latin typeface="Calibri"/>
              </a:rPr>
              <a:t>rodando em cada unidade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Blocos de processo </a:t>
            </a:r>
            <a:r>
              <a:rPr sz="1350">
                <a:solidFill>
                  <a:srgbClr val="334E68"/>
                </a:solidFill>
                <a:latin typeface="Calibri"/>
              </a:rPr>
              <a:t>P_PID, P_VALVE, P_INTLK, Command Source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Dados nativos </a:t>
            </a:r>
            <a:r>
              <a:rPr sz="1350">
                <a:solidFill>
                  <a:srgbClr val="334E68"/>
                </a:solidFill>
                <a:latin typeface="Calibri"/>
              </a:rPr>
              <a:t>modo Auto/Manual, Operador/Programa, interlocks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Alarmes &amp; Events </a:t>
            </a:r>
            <a:r>
              <a:rPr sz="1350">
                <a:solidFill>
                  <a:srgbClr val="334E68"/>
                </a:solidFill>
                <a:latin typeface="Calibri"/>
              </a:rPr>
              <a:t>alarmes não reconhecidos já rastreados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2578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554480"/>
            <a:ext cx="5257800" cy="640080"/>
          </a:xfrm>
          <a:prstGeom prst="roundRect">
            <a:avLst/>
          </a:prstGeom>
          <a:solidFill>
            <a:srgbClr val="334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67335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TracOS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gestão de manutenção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23160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Ordens de serviço </a:t>
            </a:r>
            <a:r>
              <a:rPr sz="1350">
                <a:solidFill>
                  <a:srgbClr val="334E68"/>
                </a:solidFill>
                <a:latin typeface="Calibri"/>
              </a:rPr>
              <a:t>e controle de ativos por unidade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Histórico de manutenção </a:t>
            </a:r>
            <a:r>
              <a:rPr sz="1350">
                <a:solidFill>
                  <a:srgbClr val="334E68"/>
                </a:solidFill>
                <a:latin typeface="Calibri"/>
              </a:rPr>
              <a:t>corretiva e preventiva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Planejamento </a:t>
            </a:r>
            <a:r>
              <a:rPr sz="1350">
                <a:solidFill>
                  <a:srgbClr val="334E68"/>
                </a:solidFill>
                <a:latin typeface="Calibri"/>
              </a:rPr>
              <a:t>de paradas e equipes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Base solida </a:t>
            </a:r>
            <a:r>
              <a:rPr sz="1350">
                <a:solidFill>
                  <a:srgbClr val="334E68"/>
                </a:solidFill>
                <a:latin typeface="Calibri"/>
              </a:rPr>
              <a:t>— porem desconectada do dado de processo em tempo real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02A43"/>
                </a:solidFill>
                <a:latin typeface="Calibri"/>
              </a:rPr>
              <a:t>Resumo:  </a:t>
            </a:r>
            <a:r>
              <a:rPr sz="1450" b="0" i="0">
                <a:solidFill>
                  <a:srgbClr val="334E68"/>
                </a:solidFill>
                <a:latin typeface="Calibri"/>
              </a:rPr>
              <a:t>temos dados ricos e uma base Rockwell robusta. O que falta não é coletar — e </a:t>
            </a:r>
            <a:r>
              <a:rPr sz="1450" b="1" i="0">
                <a:solidFill>
                  <a:srgbClr val="102A43"/>
                </a:solidFill>
                <a:latin typeface="Calibri"/>
              </a:rPr>
              <a:t>contextualizar, comparar entre plantas e antecipar com 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DIAGNÓSTICO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As 4 lacunas que travam a decisão executiva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182880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85623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Silos por planta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51460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O dado fica preso em cada PlantPAx. Não existe uma visão única nem ranking entre unidades.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29400" y="182880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5623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Sem benchmarking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51460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Impossível comparar OEE, malhas em auto e alarmes entre Sinop, LRV, Dourados e Balsas de forma direta.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2336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" y="429768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32511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Manutenção reativa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498348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Agimos depois da falha. Sem análise de causa raiz automatizada nem recomendação prescritiva.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29400" y="429768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32511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Excesso de alarmes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498348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Média do setor: 30+ alarmes/operador/hora (5x acima da ISA-18.2); ~70% são nuisance alarms.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128016" cy="50292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VISÃO DE 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Do sensor à diretoria: as 4 camadas do dado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1371600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371600"/>
            <a:ext cx="914400" cy="1078992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371600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536192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DECISÃO  ·  COI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938528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Dashboards únicos, benchmarking entre plantas, alertas e ranking em tempo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596896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5840" y="2596896"/>
            <a:ext cx="914400" cy="1078992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596896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761488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EXECUÇÃO INTELIGENTE  ·  FactoryTalk Optix + ResilientEdge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163824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HMI/SCADA multi-site, edge resiliente, loop fechado com IA, acesso remoto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822192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3822192"/>
            <a:ext cx="914400" cy="10789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822192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986784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DataOps + IA  ·  FactoryTalk DataMosaix + Atlas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4389120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Contextualiza OT/IT/ET, RCA automatizada, agentes no-code, prescritivo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047488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334E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047488"/>
            <a:ext cx="914400" cy="1078992"/>
          </a:xfrm>
          <a:prstGeom prst="roundRect">
            <a:avLst/>
          </a:prstGeom>
          <a:solidFill>
            <a:srgbClr val="334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047488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5212080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EDGE / OT  ·  PlantPAx + sensores (o que já temos)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614416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Controladores, blocos de processo, alarmes, dados em tempo real por planta</a:t>
            </a:r>
          </a:p>
        </p:txBody>
      </p:sp>
      <p:sp>
        <p:nvSpPr>
          <p:cNvPr id="26" name="Up Arrow 25"/>
          <p:cNvSpPr/>
          <p:nvPr/>
        </p:nvSpPr>
        <p:spPr>
          <a:xfrm>
            <a:off x="10561320" y="1371600"/>
            <a:ext cx="640080" cy="4754880"/>
          </a:xfrm>
          <a:prstGeom prst="upArrow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78440" y="617220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69C52"/>
                </a:solidFill>
                <a:latin typeface="Calibri"/>
              </a:rPr>
              <a:t>valor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CAMADA DE EXECUÇÃO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FactoryTalk Optix + ResilientEdge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334E68"/>
                </a:solidFill>
                <a:latin typeface="Calibri"/>
              </a:rPr>
              <a:t>De HMI para a </a:t>
            </a:r>
            <a:r>
              <a:rPr sz="1600" b="1" i="0">
                <a:solidFill>
                  <a:srgbClr val="2563EB"/>
                </a:solidFill>
                <a:latin typeface="Calibri"/>
              </a:rPr>
              <a:t>base de execução inteligente</a:t>
            </a:r>
            <a:r>
              <a:rPr sz="1600" b="0" i="0">
                <a:solidFill>
                  <a:srgbClr val="334E68"/>
                </a:solidFill>
                <a:latin typeface="Calibri"/>
              </a:rPr>
              <a:t> da Rockwell: HMI/SCADA cloud-enabled, projetada e implantada pelo navegador.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4884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4884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2331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SCADA multi-site (2026)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80720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Centraliza o supervisório de todas as plantas em uma plataforma, com redundância de servidor e workstation clients.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14884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214884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2331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ResilientEdge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280720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Execução edge resiliente + analytics em nuvem, treino de IA e orquestração corporativa. Disponível global desde 18/06/2026.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02336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206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Acesso remoto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68172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FactoryTalk Remote Access via VPN: investigar e resolver antes de viajar à planta remota.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402336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402336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7688" y="4206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Aberto / OPC UA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7688" y="468172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Comunica nativamente com controladores Rockwell e de terceiros; roda em qualquer hardware.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694944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Para a Inpasa: o caminho natural do COI centralizado multi-planta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FactoryTalk DataMosaix + Atlas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Industrial DataOps do edge à nuvem: </a:t>
            </a:r>
            <a:r>
              <a:rPr sz="1600" b="0" i="0">
                <a:solidFill>
                  <a:srgbClr val="334E68"/>
                </a:solidFill>
                <a:latin typeface="Calibri"/>
              </a:rPr>
              <a:t>contextualiza dados de operação, engenharia e TI para casos de uso de 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4884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48840"/>
            <a:ext cx="91440" cy="1600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2331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RCA automatizada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80720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Análise de causa raiz sem precisar de um analista de dados dedicado.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14884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2148840"/>
            <a:ext cx="91440" cy="1600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2331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Agentes de IA contextuais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280720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Monitoram variáveis de processo e geram alertas — exatamente o que o Hub de Automação está construindo.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02336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91440" cy="1600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206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Manutenção prescritiva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68172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Detecta desgaste precoce e recomenda a ação antes da parada custosa.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402336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4023360"/>
            <a:ext cx="91440" cy="1600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7688" y="4206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No-code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7688" y="468172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Maicon e equipe criam fluxos e agentes seguros sem programar.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6949440" cy="457200"/>
          </a:xfrm>
          <a:prstGeom prst="roundRect">
            <a:avLst>
              <a:gd name="adj" fmla="val 50000"/>
            </a:avLst>
          </a:prstGeom>
          <a:solidFill>
            <a:srgbClr val="B471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Para a Inpasa: integra OT + IT + ET e elimina silos entre as plantas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COMPARATIVO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Hoje (PlantPAx + TracOS)  vs.  Proposto (Optix + DataMosaix)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554480"/>
            <a:ext cx="2743200" cy="512064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Capacidade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40" y="1554480"/>
            <a:ext cx="3657600" cy="512064"/>
          </a:xfrm>
          <a:prstGeom prst="rect">
            <a:avLst/>
          </a:prstGeom>
          <a:solidFill>
            <a:srgbClr val="D93A3A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Hoje</a:t>
            </a:r>
          </a:p>
        </p:txBody>
      </p:sp>
      <p:sp>
        <p:nvSpPr>
          <p:cNvPr id="9" name="Rectangle 8"/>
          <p:cNvSpPr/>
          <p:nvPr/>
        </p:nvSpPr>
        <p:spPr>
          <a:xfrm>
            <a:off x="7178040" y="1554480"/>
            <a:ext cx="4206240" cy="512064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Com Optix + DataMosaix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066544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Supervisório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2066544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Por planta, isolado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78040" y="2066544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Multi-site centralizado (SCADA Optix)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578608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Visão entre plantas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2578608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Inexistente / manual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578608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Dashboards únicos e comparáveis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090672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Manutenção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0440" y="3090672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Corretiva / preventiva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8040" y="3090672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Preditiva e prescritiva (IA)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602736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Causa raiz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0440" y="3602736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Investigação manual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78040" y="3602736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RCA automatizada por agente de 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4800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Alarmes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40" y="4114800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Acima da ISA-18.2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8040" y="4114800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Benchmarking e redução de nuisance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626864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Acesso remoto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0440" y="4626864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Limitado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8040" y="4626864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Remote Access via VPN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38928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IT / OT / ET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20440" y="5138928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Silos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78040" y="5138928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Convergência em plataforma única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BENCHMARKING DE ALARMES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 norma ISA-18.2 e a oportunidade imediata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554480"/>
          <a:ext cx="585216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03720" y="169164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D93A3A"/>
                </a:solidFill>
                <a:latin typeface="Calibri"/>
              </a:rPr>
              <a:t>5x acima do recomendado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2423160"/>
            <a:ext cx="45720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Planta bem gerenciada: &lt; 6 alarmes/operador/hora em operação normal.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Média das plantas: 30+ por operador/hora — cinco vezes o máximo.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~70% dos alarmes em DCS/SCADA típicos são nuisance (não exigem ação).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FT VantagePoint </a:t>
            </a:r>
            <a:r>
              <a:rPr sz="1350">
                <a:solidFill>
                  <a:srgbClr val="334E68"/>
                </a:solidFill>
                <a:latin typeface="Calibri"/>
              </a:rPr>
              <a:t>identifica nuisance alarms, bad actors e alarm floods — sobre o PlantPAx que já temos.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INDICADORES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KPIs de benchmarking que o ecossistema já mede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393192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KPI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481328"/>
            <a:ext cx="393192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Ferramenta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1481328"/>
            <a:ext cx="274320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Disponível hoje?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385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Alarmes por operador/hora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19385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FT VantagePoint + DataMosaix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41080" y="19385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Sim — com PlantPAx atual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Alarmes não reconhecidos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23957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FT Alarms &amp; Events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41080" y="23957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Nativo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8529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Controles em Auto / Manual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28529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P_PID, P_VALVE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8529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Dado já no controlador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3101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Blocos Operador / Programa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33101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Command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41080" y="33101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Campo nativo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7673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Interlocks desabilitados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60" y="37673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P_Gate + P_INTLK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41080" y="37673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Rastreável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2245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Variáveis simuladas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42245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Tag audit via Studio 5000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41080" y="42245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Possível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6817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Bad actors / nuisance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60" y="46817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FT VantagePoint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6817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Sim — com PlantPAx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138928"/>
            <a:ext cx="393192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Benchmarking entre plantas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5138928"/>
            <a:ext cx="393192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DataMosaix (multi-site)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41080" y="5138928"/>
            <a:ext cx="274320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Novidade que entra agora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627D98"/>
                </a:solidFill>
                <a:latin typeface="Calibri"/>
              </a:rPr>
              <a:t>Quase tudo já existe no dado atual — falta a camada que agrega e compara: o DataMosaix.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28016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3774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O DELTA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O que o DataMosaix adiciona ao que já temos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C8D6E4"/>
                </a:solidFill>
                <a:latin typeface="Calibri"/>
              </a:rPr>
              <a:t>Hoje o dado vive dentro de cada PlantPAx. O DataMosaix é a camada que </a:t>
            </a:r>
            <a:r>
              <a:rPr sz="1550" b="1" i="0">
                <a:solidFill>
                  <a:srgbClr val="F59E0B"/>
                </a:solidFill>
                <a:latin typeface="Calibri"/>
              </a:rPr>
              <a:t>agrega, contextualiza e compara</a:t>
            </a:r>
            <a:r>
              <a:rPr sz="1550" b="0" i="0">
                <a:solidFill>
                  <a:srgbClr val="C8D6E4"/>
                </a:solidFill>
                <a:latin typeface="Calibri"/>
              </a:rPr>
              <a:t> — uma visão única de toda a operação.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0604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OEE comparável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2148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B9CADB"/>
                </a:solidFill>
                <a:latin typeface="Calibri"/>
              </a:rPr>
              <a:t>Por planta, linha e região — em um único dashboard.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60604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Planejamento enterprise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429000"/>
            <a:ext cx="2148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B9CADB"/>
                </a:solidFill>
                <a:latin typeface="Calibri"/>
              </a:rPr>
              <a:t>Decisão de produção em nível corporativo, não por silo.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60604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Visão multi-site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429000"/>
            <a:ext cx="2148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B9CADB"/>
                </a:solidFill>
                <a:latin typeface="Calibri"/>
              </a:rPr>
              <a:t>Sinop, LRV, Dourados, Balsas e novas plantas lado a lado.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260604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Contexto OT+IT+ET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3429000"/>
            <a:ext cx="2148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B9CADB"/>
                </a:solidFill>
                <a:latin typeface="Calibri"/>
              </a:rPr>
              <a:t>Dado de processo + manutenção + negócio juntos.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APLICAÇÃO DIRETA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isso aparece no COI da Inpasa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1560" y="18745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92024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Tela única em tempo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651760"/>
            <a:ext cx="46725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% de malhas em automático por planta, lado a lado, atualizado ao vivo.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60020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29400" y="18745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92024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Ranking de plantas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651760"/>
            <a:ext cx="46725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Por índice de alarmes/operador/hora — quem está dentro e fora da ISA-18.2.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2336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51560" y="429768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34340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Alertas automáticos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5074920"/>
            <a:ext cx="46725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Disparo quando uma planta cruza o limite de 6 alarmes/hora.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29400" y="429768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434340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Comparativo histórico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5074920"/>
            <a:ext cx="46725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Identifica qual planta regrediu após parada ou troca de turno.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entra — em fases, começando pelo ganho rápido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429000" cy="2834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9C52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737360"/>
            <a:ext cx="3429000" cy="86868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1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Ganho rápido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834640"/>
            <a:ext cx="284378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Benchmarking de alarmes (VantagePoint) e KPIs sobre o PlantPAx atual. Valor imediato, sem trocar base.</a:t>
            </a:r>
          </a:p>
        </p:txBody>
      </p:sp>
      <p:sp>
        <p:nvSpPr>
          <p:cNvPr id="11" name="Chevron 10"/>
          <p:cNvSpPr/>
          <p:nvPr/>
        </p:nvSpPr>
        <p:spPr>
          <a:xfrm>
            <a:off x="4160520" y="2971800"/>
            <a:ext cx="365760" cy="365760"/>
          </a:xfrm>
          <a:prstGeom prst="chevron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70832" y="1737360"/>
            <a:ext cx="3429000" cy="2834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70832" y="1737360"/>
            <a:ext cx="3429000" cy="8686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2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Preditivo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834640"/>
            <a:ext cx="284378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DataMosaix agrega plantas, dashboards comparativos e detecção precoce de desgaste.</a:t>
            </a:r>
          </a:p>
        </p:txBody>
      </p:sp>
      <p:sp>
        <p:nvSpPr>
          <p:cNvPr id="16" name="Chevron 15"/>
          <p:cNvSpPr/>
          <p:nvPr/>
        </p:nvSpPr>
        <p:spPr>
          <a:xfrm>
            <a:off x="7754112" y="2971800"/>
            <a:ext cx="365760" cy="365760"/>
          </a:xfrm>
          <a:prstGeom prst="chevron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64424" y="1737360"/>
            <a:ext cx="3429000" cy="2834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64424" y="1737360"/>
            <a:ext cx="342900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3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Prescritivo + COI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834640"/>
            <a:ext cx="284378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Optix SCADA multi-site + agentes de IA prescritivos alimentando o COI centralizado.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983480"/>
            <a:ext cx="8229600" cy="457200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ResilientEdge: disponível global desde 18/06/2026  ·  SCADA multi-site em rollout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DECISÃO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 que pedimos para avançar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1856232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746504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02A43"/>
                </a:solidFill>
                <a:latin typeface="Calibri"/>
              </a:rPr>
              <a:t>Aprovar piloto de Fase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167128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Benchmarking de alarmes (ISA-18.2) sobre o PlantPAx atual, em 1-2 plantas, como prova de valor.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715768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2971800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862072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02A43"/>
                </a:solidFill>
                <a:latin typeface="Calibri"/>
              </a:rPr>
              <a:t>Definir plantas-piloto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282696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Sugestão: Sinop + uma unidade nova, para comparar maturidades.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831336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" y="4087368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3977640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02A43"/>
                </a:solidFill>
                <a:latin typeface="Calibri"/>
              </a:rPr>
              <a:t>Validar interlocutores Rockwell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398264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Confirmar nomes/cargos dos apresentadores de Optix e DataMosaix (contato: Dan DeYoung).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946904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5202936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093208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02A43"/>
                </a:solidFill>
                <a:latin typeface="Calibri"/>
              </a:rPr>
              <a:t>Designar squad interno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551383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Maicon e equipe do Hub de Automação conduzindo os fluxos no-code do DataMosaix.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241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O dado já existe.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69C52"/>
                </a:solidFill>
                <a:latin typeface="Calibri"/>
              </a:rPr>
              <a:t>Falta transformá-lo em decisão.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DDAE8"/>
                </a:solidFill>
                <a:latin typeface="Calibri"/>
              </a:rPr>
              <a:t>Optix + DataMosaix conectam o que a Inpasa já tem (PlantPAx + TracOS) a um COI único,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DDAE8"/>
                </a:solidFill>
                <a:latin typeface="Calibri"/>
              </a:rPr>
              <a:t>com benchmarking entre plantas e IA prescritiva — começando pelo ganho rápido.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5212080"/>
            <a:ext cx="5029200" cy="19050"/>
          </a:xfrm>
          <a:prstGeom prst="rect">
            <a:avLst/>
          </a:prstGeom>
          <a:solidFill>
            <a:srgbClr val="3552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394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Gestão Estratégica de Automação  ·  Inpasa  ·  2026.06.28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