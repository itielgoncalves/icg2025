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02A43"/>
                </a:solidFill>
              </a:rPr>
              <a:t>Alarmes por operador / hora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Alarmes por operador / hora</c:v>
                </c:pt>
              </c:strCache>
            </c:strRef>
          </c:tx>
          <c:dPt>
            <c:idx val="0"/>
            <c:spPr>
              <a:solidFill>
                <a:srgbClr val="169C52"/>
              </a:solidFill>
            </c:spPr>
          </c:dPt>
          <c:dPt>
            <c:idx val="1"/>
            <c:spPr>
              <a:solidFill>
                <a:srgbClr val="D93A3A"/>
              </a:solidFill>
            </c:spPr>
          </c:dPt>
          <c:dPt>
            <c:idx val="2"/>
            <c:spPr>
              <a:solidFill>
                <a:srgbClr val="169C52"/>
              </a:solidFill>
            </c:spPr>
          </c:dPt>
          <c:cat>
            <c:strRef>
              <c:f>Sheet1!$A$2:$A$4</c:f>
              <c:strCache>
                <c:ptCount val="3"/>
                <c:pt idx="0">
                  <c:v>Limite ISA-18.2
(máximo)</c:v>
                </c:pt>
                <c:pt idx="1">
                  <c:v>Média do setor
(hoje)</c:v>
                </c:pt>
                <c:pt idx="2">
                  <c:v>Meta Inpasa
no COI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30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GESTÃO ESTRATÉGICA  ·  AUTOMAÇÃO &amp;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DataOps na Prática: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169C52"/>
                </a:solidFill>
                <a:latin typeface="Calibri"/>
              </a:rPr>
              <a:t>IA a Serviço da Alta 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DDAE8"/>
                </a:solidFill>
                <a:latin typeface="Calibri"/>
              </a:rPr>
              <a:t>Evolução da plataforma de automação da Inpasa  —  </a:t>
            </a:r>
            <a:r>
              <a:rPr sz="1900" b="1" i="0">
                <a:solidFill>
                  <a:srgbClr val="2563EB"/>
                </a:solidFill>
                <a:latin typeface="Calibri"/>
              </a:rPr>
              <a:t>FactoryTalk Optix + DataMosaix</a:t>
            </a:r>
            <a:r>
              <a:rPr sz="1900" b="0" i="0">
                <a:solidFill>
                  <a:srgbClr val="CDDAE8"/>
                </a:solidFill>
                <a:latin typeface="Calibri"/>
              </a:rPr>
              <a:t>  vs.  </a:t>
            </a:r>
            <a:r>
              <a:rPr sz="1900" b="1" i="0">
                <a:solidFill>
                  <a:srgbClr val="F59E0B"/>
                </a:solidFill>
                <a:latin typeface="Calibri"/>
              </a:rPr>
              <a:t>PlantPAx + TracOS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709160"/>
            <a:ext cx="585216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CDDAE8"/>
                </a:solidFill>
                <a:latin typeface="Calibri"/>
              </a:rPr>
              <a:t>Automação inteligente  ·  Inteligência Artificial  ·  Manutenção prescritiva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FA9C2"/>
                </a:solidFill>
                <a:latin typeface="Calibri"/>
              </a:rPr>
              <a:t>Base: sessão estratégica Inpasa × Rockwell  ·  Cleveland, OH  ·  26/06/2026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172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27D98"/>
                </a:solidFill>
                <a:latin typeface="Calibri"/>
              </a:rPr>
              <a:t>2026.06.28  ·  MULTI  ·  vFINAL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Por que olhar para isso agora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A Inpasa cresceu de planta única para uma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operação multi-unidades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(Sinop, Nova Mutum, Dourados, Balsas, Sidrolândia e novas plantas).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Os dados existem — mas vivem isolados dentro de cada planta.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260604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Reunião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Encontro Inpasa x Rockwell (26/06) sobre parceria de tecnologia e inovação. Contato: Dan DeYoung (VP &amp; GM, Design &amp; Control).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514600"/>
            <a:ext cx="2606040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Dados em 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Cada unidade tem seu PlantPAx adaptado às necessidades e padrões da Inpasa. Não há visão única, nem comparação direta entre as plantas.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514600"/>
            <a:ext cx="2606040" cy="109728"/>
          </a:xfrm>
          <a:prstGeom prst="round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A3A"/>
                </a:solidFill>
                <a:latin typeface="Calibri"/>
              </a:rPr>
              <a:t>Decisão reativa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Manutenção parcialmente reativa: o TracOS cobre os rotativos com insight prescritivo. Faltam os alarmes acima da norma e o prescritivo dos equipamentos não rotativos.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2514600"/>
            <a:ext cx="2606040" cy="109728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9C52"/>
                </a:solidFill>
                <a:latin typeface="Calibri"/>
              </a:rPr>
              <a:t>Janela de oportunidade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Optix e DataMosaix amadureceram em 2026 (SCADA multi-site + Industrial DataOps).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Pergunta central:  </a:t>
            </a:r>
            <a:r>
              <a:rPr sz="1500" b="0" i="1">
                <a:solidFill>
                  <a:srgbClr val="334E68"/>
                </a:solidFill>
                <a:latin typeface="Calibri"/>
              </a:rPr>
              <a:t>como transformar o dado que já geramos em decisão executiva, comparável entre plantas e antecipada por IA?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STRATEGIC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Inpasa × Rockwell — June 26, 2026 session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Executive session at Rockwell's campus (Cleveland, OH). Inpasa presented its automation goals; Rockwell shared its vision for the COI, DataOps and industrial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5257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525780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05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Session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617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Inpasa Goals &amp; Objectives </a:t>
            </a:r>
            <a:r>
              <a:rPr sz="1300">
                <a:solidFill>
                  <a:srgbClr val="334E68"/>
                </a:solidFill>
                <a:latin typeface="Calibri"/>
              </a:rPr>
              <a:t>— Itiel Gonçalves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Trusted Partnership &amp; Ecosystem </a:t>
            </a:r>
            <a:r>
              <a:rPr sz="1300">
                <a:solidFill>
                  <a:srgbClr val="334E68"/>
                </a:solidFill>
                <a:latin typeface="Calibri"/>
              </a:rPr>
              <a:t>— Andrew D'Souza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Process Characterization &amp; Lab Tour </a:t>
            </a:r>
            <a:r>
              <a:rPr sz="1300">
                <a:solidFill>
                  <a:srgbClr val="334E68"/>
                </a:solidFill>
                <a:latin typeface="Calibri"/>
              </a:rPr>
              <a:t>— Ed Walsh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Software Leadership: COI &amp; DataOps </a:t>
            </a:r>
            <a:r>
              <a:rPr sz="1300">
                <a:solidFill>
                  <a:srgbClr val="334E68"/>
                </a:solidFill>
                <a:latin typeface="Calibri"/>
              </a:rPr>
              <a:t>— JP Wright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Hardware Leadership: Process Initiative </a:t>
            </a:r>
            <a:r>
              <a:rPr sz="1300">
                <a:solidFill>
                  <a:srgbClr val="334E68"/>
                </a:solidFill>
                <a:latin typeface="Calibri"/>
              </a:rPr>
              <a:t>— Brian Widman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Strategic Plan &amp; Executive Wrap-up </a:t>
            </a:r>
            <a:r>
              <a:rPr sz="1300">
                <a:solidFill>
                  <a:srgbClr val="334E68"/>
                </a:solidFill>
                <a:latin typeface="Calibri"/>
              </a:rPr>
              <a:t>— Andrew D'Souza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11680"/>
            <a:ext cx="52578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5257800" cy="566928"/>
          </a:xfrm>
          <a:prstGeom prst="round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30552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Attendees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617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Itiel Gonçalves </a:t>
            </a:r>
            <a:r>
              <a:rPr sz="1300">
                <a:solidFill>
                  <a:srgbClr val="334E68"/>
                </a:solidFill>
                <a:latin typeface="Calibri"/>
              </a:rPr>
              <a:t>— VP, Automation &amp; Electrical (Inpasa)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Dan DeYoung </a:t>
            </a:r>
            <a:r>
              <a:rPr sz="1300">
                <a:solidFill>
                  <a:srgbClr val="334E68"/>
                </a:solidFill>
                <a:latin typeface="Calibri"/>
              </a:rPr>
              <a:t>— VP &amp; GM, Design &amp; Control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Andrew D'Souza </a:t>
            </a:r>
            <a:r>
              <a:rPr sz="1300">
                <a:solidFill>
                  <a:srgbClr val="334E68"/>
                </a:solidFill>
                <a:latin typeface="Calibri"/>
              </a:rPr>
              <a:t>— Director, Software &amp; Control, LATAM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JP Wright </a:t>
            </a:r>
            <a:r>
              <a:rPr sz="1300">
                <a:solidFill>
                  <a:srgbClr val="334E68"/>
                </a:solidFill>
                <a:latin typeface="Calibri"/>
              </a:rPr>
              <a:t>— Director, Visualization &amp; Production Data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Brian Widman </a:t>
            </a:r>
            <a:r>
              <a:rPr sz="1300">
                <a:solidFill>
                  <a:srgbClr val="334E68"/>
                </a:solidFill>
                <a:latin typeface="Calibri"/>
              </a:rPr>
              <a:t>— PM, Controllers · Chris Stearns — PlantPAx PM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02A43"/>
                </a:solidFill>
                <a:latin typeface="Calibri"/>
              </a:rPr>
              <a:t>▪  </a:t>
            </a:r>
            <a:r>
              <a:rPr sz="1300" b="1">
                <a:solidFill>
                  <a:srgbClr val="102A43"/>
                </a:solidFill>
                <a:latin typeface="Calibri"/>
              </a:rPr>
              <a:t>Lúcio Granato </a:t>
            </a:r>
            <a:r>
              <a:rPr sz="1300">
                <a:solidFill>
                  <a:srgbClr val="334E68"/>
                </a:solidFill>
                <a:latin typeface="Calibri"/>
              </a:rPr>
              <a:t>— Solution Architect (Brazil team)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POR QUE AGORA · CONTEXTO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o mundo da automação está mudando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Da convergência IT/OT à automação definida por software e à IA — a régua subiu.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Evolução da IA industrial: de regras e sistemas especialistas a machine learning, IA generativa, agentes de IA e frameworks agênticos — com aceleração acentuada.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CENÁRIO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a Inpasa já tem 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257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PlantPAx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supervisório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DCS/SCADA Rockwell </a:t>
            </a:r>
            <a:r>
              <a:rPr sz="1350">
                <a:solidFill>
                  <a:srgbClr val="334E68"/>
                </a:solidFill>
                <a:latin typeface="Calibri"/>
              </a:rPr>
              <a:t>rodando em cada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PlantPAx parcial </a:t>
            </a:r>
            <a:r>
              <a:rPr sz="1350">
                <a:solidFill>
                  <a:srgbClr val="334E68"/>
                </a:solidFill>
                <a:latin typeface="Calibri"/>
              </a:rPr>
              <a:t>diversos blocos (P_PID, P_VALVE, P_INTLK), parte customizados à Inpasa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Dados nativos </a:t>
            </a:r>
            <a:r>
              <a:rPr sz="1350">
                <a:solidFill>
                  <a:srgbClr val="334E68"/>
                </a:solidFill>
                <a:latin typeface="Calibri"/>
              </a:rPr>
              <a:t>modo Auto/Manual, Operador/Programa, interlocks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Alarmes &amp; Events </a:t>
            </a:r>
            <a:r>
              <a:rPr sz="1350">
                <a:solidFill>
                  <a:srgbClr val="334E68"/>
                </a:solidFill>
                <a:latin typeface="Calibri"/>
              </a:rPr>
              <a:t>alarmes não reconhecidos já rastreados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257800" cy="640080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TracOS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manutenção preditiva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TracOS (Tractian) </a:t>
            </a:r>
            <a:r>
              <a:rPr sz="1350">
                <a:solidFill>
                  <a:srgbClr val="334E68"/>
                </a:solidFill>
                <a:latin typeface="Calibri"/>
              </a:rPr>
              <a:t>monitoramento preditivo de rotativos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Evita falhas </a:t>
            </a:r>
            <a:r>
              <a:rPr sz="1350">
                <a:solidFill>
                  <a:srgbClr val="334E68"/>
                </a:solidFill>
                <a:latin typeface="Calibri"/>
              </a:rPr>
              <a:t>em média 5–6 por planta, com antecedência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Ordens de serviço </a:t>
            </a:r>
            <a:r>
              <a:rPr sz="1350">
                <a:solidFill>
                  <a:srgbClr val="334E68"/>
                </a:solidFill>
                <a:latin typeface="Calibri"/>
              </a:rPr>
              <a:t>e gestão de ativos por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Lacuna </a:t>
            </a:r>
            <a:r>
              <a:rPr sz="1350">
                <a:solidFill>
                  <a:srgbClr val="334E68"/>
                </a:solidFill>
                <a:latin typeface="Calibri"/>
              </a:rPr>
              <a:t>não cobre não rotativos nem prescritivo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Resumo:  </a:t>
            </a:r>
            <a:r>
              <a:rPr sz="1450" b="0" i="0">
                <a:solidFill>
                  <a:srgbClr val="334E68"/>
                </a:solidFill>
                <a:latin typeface="Calibri"/>
              </a:rPr>
              <a:t>temos dados ricos e uma base Rockwell robusta. O que falta não é coletar — e </a:t>
            </a:r>
            <a:r>
              <a:rPr sz="1450" b="1" i="0">
                <a:solidFill>
                  <a:srgbClr val="102A43"/>
                </a:solidFill>
                <a:latin typeface="Calibri"/>
              </a:rPr>
              <a:t>contextualizar, comparar entre plantas e antecipar com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DIAGNÓSTICO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As 4 lacunas que travam a decisão executiva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Silos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O dado fica preso no PlantPAx parcial de cada unidade. Em automação, não existe visão única nem ranking comparativo entre as plantas.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Sem benchmarking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Sem comparar entre Sinop, Nova Mutum, Dourados, Balsas e Sidrolândia o índice de alarmes, de malhas em automático, de blocos em programa, de interlocks desativados e de variáveis simuladas.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Parcialmente reativa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TracOS já evita 5–6 falhas/planta em rotativos. Falta cobrir equipamentos não rotativos e dar insight de manutenção prescritiva para eles.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Excesso de alarmes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Média do setor: 30+ alarmes/operador/hora (5x acima da ISA-18.2); ~70% são nuisance alarms.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VISÃO DE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 sensor à diretoria: as 4 camadas do dado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71600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914400" cy="1078992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DECISÃO  ·  COI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38528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Dashboards únicos, benchmarking entre plantas, alertas e ranking em tempo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96896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596896"/>
            <a:ext cx="9144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61488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EXECUÇÃO INTELIGENTE  ·  FactoryTalk Optix + 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163824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HMI/SCADA multi-site, edge resiliente, loop fechado com IA, acesso remoto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22192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822192"/>
            <a:ext cx="9144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22192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86784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DataOps + IA  ·  FactoryTalk DataMosaix + Atlas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89120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Contextualiza OT/IT/ET, RCA automatizada, agentes no-code, prescritivo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047488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33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047488"/>
            <a:ext cx="914400" cy="1078992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47488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212080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EDGE / OT  ·  PlantPAx + sensores + Tractian (o que já temos)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614416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Controladores, blocos, alarmes e monitoramento de rotativos (Tractian) por planta</a:t>
            </a:r>
          </a:p>
        </p:txBody>
      </p:sp>
      <p:sp>
        <p:nvSpPr>
          <p:cNvPr id="26" name="Up Arrow 25"/>
          <p:cNvSpPr/>
          <p:nvPr/>
        </p:nvSpPr>
        <p:spPr>
          <a:xfrm>
            <a:off x="10561320" y="1371600"/>
            <a:ext cx="640080" cy="4754880"/>
          </a:xfrm>
          <a:prstGeom prst="upArrow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6172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9C52"/>
                </a:solidFill>
                <a:latin typeface="Calibr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CAMADA DE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Optix + ResilientEdge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De HMI para a </a:t>
            </a:r>
            <a:r>
              <a:rPr sz="1600" b="1" i="0">
                <a:solidFill>
                  <a:srgbClr val="2563EB"/>
                </a:solidFill>
                <a:latin typeface="Calibri"/>
              </a:rPr>
              <a:t>base de execução inteligente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da Rockwell: HMI/SCADA cloud-enabled, projetada e implantada pelo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SCADA multi-site (Optix)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O próprio FactoryTalk Optix ganha módulo SCADA: centraliza o supervisório de todas as plantas, com redundância de servidor e workstation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Execução edge resiliente + analytics em nuvem, treino de IA e orquestração corporativa. Disponível global desde 18/06/2026.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Acesso remoto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FactoryTalk Remote Access via VPN. Hoje a Inpasa usa Citrix, que pode ser mantido.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Aberto / OPC 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Comunica com controladores Rockwell e de terceiros e roda em qualquer hardware — integra os equipamentos multimarca da Inpasa, sem lock-in.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 a Inpasa: o caminho natural do COI centralizado multi-planta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CAMADA DE EXECUÇÃO · FACTORYTALK OPTIX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Optix AI Design Assistance — HMI assistido por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Projetar e implantar telas com apoio de IA: do rascunho à aplicação funcional.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tix_ai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Gera telas a partir de Figma, foto ou rascunho à mão; conteúdo por texto conversacional; auto-geração de modelos e conectividade — releases v1.8 a v1.9 (2026).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Industrial DataOps — um hub para OT, IT e 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Em vez de integrações ponto a ponto, um hub central contextualiza e reaproveita o 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ustrial_dataops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O hub industrial consolida dados de OT, IT e ET com contextualização, modelos, qualidade e catálogo — reutilizáveis por várias aplicações e pela 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DataMosaix + Atlas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B47105"/>
                </a:solidFill>
                <a:latin typeface="Calibri"/>
              </a:rPr>
              <a:t>Industrial DataOps do edge à nuvem: </a:t>
            </a:r>
            <a:r>
              <a:rPr sz="1450" b="0" i="0">
                <a:solidFill>
                  <a:srgbClr val="334E68"/>
                </a:solidFill>
                <a:latin typeface="Calibri"/>
              </a:rPr>
              <a:t>contextualiza dados de operação, engenharia e TI para casos de uso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10512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20240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RCA 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21992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Análise de causa raiz sem precisar de um analista de dados dedicado.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468880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ao parar uma planta, o agente cruza alarmes, malhas e histórico e aponta a causa provável em segundos.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44368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44368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054096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Manutenção prescritiva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355848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Detecta desgaste precoce e age antes da parada — complementa a Tractian (rotativos), agora para os demais ativos.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602736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a posição real de uma válvula de controle passa a divergir do percentual comandado além do histórico — tendência de desgaste sinalizada antes da falha.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78224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78224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187952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Agentes de IA contextuais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489704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Monitoram variáveis de processo e geram alertas contextualizados.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736592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exatamente o que o Hub de Automação está construindo — alerta quando uma malha foge do padrão da planta.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212080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212080"/>
            <a:ext cx="91440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321808"/>
            <a:ext cx="9966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No-code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623560"/>
            <a:ext cx="9966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A equipe de automação cria fluxos e agentes seguros sem programar.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870448"/>
            <a:ext cx="9966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1">
                <a:solidFill>
                  <a:srgbClr val="B47105"/>
                </a:solidFill>
                <a:latin typeface="Calibri"/>
              </a:rPr>
              <a:t>Ex. Inpasa:  </a:t>
            </a:r>
            <a:r>
              <a:rPr sz="1200" b="0" i="1">
                <a:solidFill>
                  <a:srgbClr val="334E68"/>
                </a:solidFill>
                <a:latin typeface="Calibri"/>
              </a:rPr>
              <a:t>monta e ajusta os fluxos do DataMosaix sem depender de TI nem de código.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 · FACTORYTALK DATAMOSAIX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DataMosaix Atlas AI — agentes autônomos na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Inteligência humana e agentes autônomos atuando em conjunto na operação industrial.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mosaix_atlas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Agentes que decidem e agem com base em metas de negócio para aumentar produção e eliminar paradas, desperdício e risco; gêmeo digital que se aprimora continuamente.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COMPARATIVO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Hoje (PlantPAx + TracOS)  vs.  Proposto (Optix + DataMosaix)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743200" cy="512064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54480"/>
            <a:ext cx="3657600" cy="512064"/>
          </a:xfrm>
          <a:prstGeom prst="rect">
            <a:avLst/>
          </a:prstGeom>
          <a:solidFill>
            <a:srgbClr val="D93A3A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54480"/>
            <a:ext cx="4206240" cy="512064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Com Optix + DataMosaix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6654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Supervisório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0665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Por planta, isolado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066544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Multi-site centralizado (SCADA Optix)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78608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Visão entre plantas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578608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Inexistente /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578608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Dashboards únicos e comparáveis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Padrão de HMI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0906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PlantPAx parcial / customizado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090672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PlantPAx 2026 + ISA-101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02736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Manutenção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602736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Preditiva em rotativos (TracOS)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602736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Prescritiva, incl. não rotativos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Causa raiz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114800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Investigação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114800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RCA automatizada por agente de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26864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Alarmes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626864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Acima da ISA-18.2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4626864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Benchmarking e redução de nuisance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3892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Acesso remoto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513892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Via VPN (já temos)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138928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Mantém VPN + Remote Access (Optix)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650992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IT / OT / 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5650992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Silos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5650992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Convergência em plataforma única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BENCHMARKING DE ALARMES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 norma ISA-18.2 e a oportunidade imediata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5448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1691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93A3A"/>
                </a:solidFill>
                <a:latin typeface="Calibri"/>
              </a:rPr>
              <a:t>5x acima do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2316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Planta bem gerenciada: &lt; 6 alarmes/operador/hora em operação normal.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Média das plantas: 30+ por operador/hora — cinco vezes o máximo.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~70% dos alarmes em DCS/SCADA típicos são nuisance (não exigem ação).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Grafana (já implantado) </a:t>
            </a:r>
            <a:r>
              <a:rPr sz="1350">
                <a:solidFill>
                  <a:srgbClr val="334E68"/>
                </a:solidFill>
                <a:latin typeface="Calibri"/>
              </a:rPr>
              <a:t>trata nuisance alarms, bad actors e alarm floods sobre o PlantPAx adaptado — base que já operamos hoje.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INDICADORES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KPIs de benchmarking que o ecossistema já mede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Ferramenta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481328"/>
            <a:ext cx="274320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Disponível hoje?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por operador/hora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Grafana (hoje) + DataMosaix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9385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sobre PlantPAx adaptado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não reconhecidos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FT Alarms &amp;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3957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Nativo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Controles em Auto /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P_PID, P_VALVE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8529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Dado já no controlador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Blocos Operador / Programa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Command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3101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Campo nativo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Interlocks desabilitados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P_Gate + P_INTLK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37673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Rastreável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Variáveis simuladas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Tag audit via Studio 5000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42245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Possível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Bad actors / nuisance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Grafana (hoje)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681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PlantPAx adaptado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Benchmarking entre plantas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DataMosaix (multi-site)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5138928"/>
            <a:ext cx="274320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Novidade que entra agora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27D98"/>
                </a:solidFill>
                <a:latin typeface="Calibri"/>
              </a:rPr>
              <a:t>Quase tudo já existe no dado atual — falta a camada que agrega e compara: o DataMosaix.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O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 que o DataMosaix adiciona ao que já temos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8D6E4"/>
                </a:solidFill>
                <a:latin typeface="Calibri"/>
              </a:rPr>
              <a:t>Hoje o dado vive dentro de cada PlantPAx. O DataMosaix é a camada que </a:t>
            </a:r>
            <a:r>
              <a:rPr sz="1550" b="1" i="0">
                <a:solidFill>
                  <a:srgbClr val="F59E0B"/>
                </a:solidFill>
                <a:latin typeface="Calibri"/>
              </a:rPr>
              <a:t>agrega, contextualiza e compara</a:t>
            </a:r>
            <a:r>
              <a:rPr sz="1550" b="0" i="0">
                <a:solidFill>
                  <a:srgbClr val="C8D6E4"/>
                </a:solidFill>
                <a:latin typeface="Calibri"/>
              </a:rPr>
              <a:t> — uma visão única de toda a operação.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Indicadores comparáveis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Alarmes/operador·hora, % de malhas em automático, blocos em programa, interlocks e variáveis simuladas — além do OEE — por planta, num só painel.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Planejamento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Decisão de produção, manutenção e ações estratégicas em nível corporativo — visão consolidada da companhia, não por site isolado.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Visão multi-site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Sinop, Nova Mutum, Dourados, Balsas, Sidrolândia e novas plantas, lado a lado, na mesma régua.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587752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Contexto OT + IT + 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33756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Une OT (processo / chão de fábrica), IT (sistemas corporativos / ERP) e ET (engenharia / ativos) num só contexto pronto para a 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APLICAÇÃO 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isso aparece no COI da Inpasa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Tela única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8775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Indicadores ao vivo por planta, lado a lado: % de malhas em automático, índice de alarmes/operador·hora, blocos em programa, interlocks e variáveis simuladas.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Ranking de plantas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8775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Ordena as unidades pelos mesmos indicadores — quem está dentro e fora da ISA-18.2 — destacando boa prática e quem precisa de atenção.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Alertas automáticos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01091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Disparo ao cruzar o limite (ex.: 6 alarmes/operador·hora) — notificação por WhatsApp, e-mail ou o canal que o gestor preferir.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Comparativo histórico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5010912"/>
            <a:ext cx="467258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Revela divergências por turno e antes/depois de parada, além de outros padrões — insights para operação e manutenção.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MODERNIZAÇÃO ·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Evolução do PlantPAx — do adaptado ao PlantPAx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Hoje já há IA que converte plantas com PlantPAx desatualizado para a versão atual; e o padrão ISA-101 (telas em cinza, cor só no que exige atenção) otimiza a operação.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09928"/>
            <a:ext cx="7333488" cy="416966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tpax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783080"/>
            <a:ext cx="7150608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27D98"/>
                </a:solidFill>
                <a:latin typeface="Calibri"/>
              </a:rPr>
              <a:t>Direção 2026: integração com FactoryTalk Optix, arquitetura multi-node, +20 conectores, design em nuvem e Software Defined Automation — com Provisioning que reduz o deploy a 1–2 semanas.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evolui — do que já temos ao COI prescritivo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9C52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429000" cy="86868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Já implementado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O Grafana já está implantado sobre o PlantPAx adaptado, com os primeiros indicadores (ex.: controles em automático) já em teste. Base pronta — o equivalente Rockwell (VantagePoint) não é necessário para começar.</a:t>
            </a:r>
          </a:p>
        </p:txBody>
      </p:sp>
      <p:sp>
        <p:nvSpPr>
          <p:cNvPr id="11" name="Chevron 10"/>
          <p:cNvSpPr/>
          <p:nvPr/>
        </p:nvSpPr>
        <p:spPr>
          <a:xfrm>
            <a:off x="4160520" y="3154680"/>
            <a:ext cx="365760" cy="365760"/>
          </a:xfrm>
          <a:prstGeom prst="chevron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37360"/>
            <a:ext cx="3429000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Preditivo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O DataMosaix estende o monitoramento preditivo aos equipamentos não rotativos — os rotativos já são cobertos pela Tractian — e agrega as plantas em dashboards comparativos.</a:t>
            </a:r>
          </a:p>
        </p:txBody>
      </p:sp>
      <p:sp>
        <p:nvSpPr>
          <p:cNvPr id="16" name="Chevron 15"/>
          <p:cNvSpPr/>
          <p:nvPr/>
        </p:nvSpPr>
        <p:spPr>
          <a:xfrm>
            <a:off x="7754112" y="3154680"/>
            <a:ext cx="365760" cy="36576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4424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737360"/>
            <a:ext cx="3429000" cy="868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Prescritivo + COI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788920"/>
            <a:ext cx="286207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E68"/>
                </a:solidFill>
                <a:latin typeface="Calibri"/>
              </a:rPr>
              <a:t>Em simulações de paradas em vários sites, com o COI centralizado a retomada das plantas ficou mais estável, rápida e otimizada — operação e manutenção. Com o time central treinando os sites, é possível até evitar desarmes.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1208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ResilientEdge: disponível global desde 18/06/2026  ·  SCADA multi-site em rollout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69C52"/>
                </a:solidFill>
                <a:latin typeface="Calibri"/>
              </a:rPr>
              <a:t>O OBJETIVO PROPOSTO PELA ALTA 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Ser referência em </a:t>
            </a:r>
            <a:r>
              <a:rPr sz="3400" b="1" i="0">
                <a:solidFill>
                  <a:srgbClr val="169C52"/>
                </a:solidFill>
                <a:latin typeface="Calibri"/>
              </a:rPr>
              <a:t>automação inteligente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na América Latina.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DDAE8"/>
                </a:solidFill>
                <a:latin typeface="Calibri"/>
              </a:rPr>
              <a:t>Não por status — mas pela vontade de gerar resultado para a companhia com tecnologia de ponta: mais produção, menos perdas e decisão baseada em 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2606040" cy="205740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61188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Otimizar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548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visibilidade e decisão em tempo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3611880"/>
            <a:ext cx="2606040" cy="205740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361188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3931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Empoderar pessoas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47548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operação e manutenção com apoio de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3611880"/>
            <a:ext cx="2606040" cy="205740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4" y="361188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3931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Construir resiliência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47548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menos paradas, retomadas mais estáveis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3611880"/>
            <a:ext cx="2606040" cy="205740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4856" y="3611880"/>
            <a:ext cx="2606040" cy="9144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63456" y="393192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Acelerar a transformação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4754880"/>
            <a:ext cx="2148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do dado à ação, planta a planta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9C52"/>
                </a:solidFill>
                <a:latin typeface="Calibri"/>
              </a:rPr>
              <a:t>Onde se encaixa: </a:t>
            </a:r>
            <a:r>
              <a:rPr sz="1300" b="0" i="0">
                <a:solidFill>
                  <a:srgbClr val="CDDAE8"/>
                </a:solidFill>
                <a:latin typeface="Calibri"/>
              </a:rPr>
              <a:t>otimizar processos de pequenos ganhos — energia, vapor e outros — que muitas vezes não avaliamos por serem pequenos, mas que a IA consegue otimizar.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pedimos para avançar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65376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00784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Aprovar o piloto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0312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Começar por 1–2 indicadores em todas as plantas (ex.: controles em automático e índice de alarmes/operador·hora), ampliando depois para os demais. Estimativa: ~4–6 semanas para os 2 primeiros, conforme o volume de tags por unidade.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61488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3072384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0779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Sequência de indicadores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Controles em automático e índice de alarmes primeiro; depois blocos em programa, interlocks desabilitados e variáveis simuladas.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6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79392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14800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Interlocutores Rockwell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517136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Time EUA: Andrew D'Souza (Software &amp; Control LATAM), JP Wright (Visualization &amp; Production Data), Brian Widman (Controllers), Chris Stearns (PlantPAx). Time Brasil: Lúcio Granato e Marcel. Anfitrião: Dan DeYoung (VP &amp; GM, Design &amp; Control).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75504"/>
            <a:ext cx="1060704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5486400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32180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02A43"/>
                </a:solidFill>
                <a:latin typeface="Calibri"/>
              </a:rPr>
              <a:t>Designar squad interno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72414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4E68"/>
                </a:solidFill>
                <a:latin typeface="Calibri"/>
              </a:rPr>
              <a:t>Gestores e equipe do Hub de Automação nos fluxos no-code do DataMosaix, com apoio e patrocínio dos gestores de processo e de automação.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Gestão Estratégica de Automação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 dado já existe.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69C52"/>
                </a:solidFill>
                <a:latin typeface="Calibri"/>
              </a:rPr>
              <a:t>Falta transformá-lo em decisão.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Optix + DataMosaix conectam o que a Inpasa já tem (PlantPAx + TracOS) a um COI único,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com benchmarking entre plantas e IA prescritiva — começando pelo ganho rápido.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5212080"/>
            <a:ext cx="502920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Gestão Estratégica de Automação  ·  Inpasa  ·  2026.06.28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