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>
                <a:solidFill>
                  <a:srgbClr val="102A43"/>
                </a:solidFill>
              </a:rPr>
              <a:t>Alarmes por operador / hora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Alarmes por operador / hora</c:v>
                </c:pt>
              </c:strCache>
            </c:strRef>
          </c:tx>
          <c:dPt>
            <c:idx val="0"/>
            <c:spPr>
              <a:solidFill>
                <a:srgbClr val="169C52"/>
              </a:solidFill>
            </c:spPr>
          </c:dPt>
          <c:dPt>
            <c:idx val="1"/>
            <c:spPr>
              <a:solidFill>
                <a:srgbClr val="D93A3A"/>
              </a:solidFill>
            </c:spPr>
          </c:dPt>
          <c:dPt>
            <c:idx val="2"/>
            <c:spPr>
              <a:solidFill>
                <a:srgbClr val="169C52"/>
              </a:solidFill>
            </c:spPr>
          </c:dPt>
          <c:cat>
            <c:strRef>
              <c:f>Sheet1!$A$2:$A$4</c:f>
              <c:strCache>
                <c:ptCount val="3"/>
                <c:pt idx="0">
                  <c:v>Limite ISA-18.2
(máximo)</c:v>
                </c:pt>
                <c:pt idx="1">
                  <c:v>Média do setor
(hoje)</c:v>
                </c:pt>
                <c:pt idx="2">
                  <c:v>Meta Inpasa
no COI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30</c:v>
                </c:pt>
                <c:pt idx="2">
                  <c:v>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777240"/>
            <a:ext cx="4206240" cy="384048"/>
          </a:xfrm>
          <a:prstGeom prst="roundRect">
            <a:avLst>
              <a:gd name="adj" fmla="val 50000"/>
            </a:avLst>
          </a:prstGeom>
          <a:solidFill>
            <a:srgbClr val="1B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GESTÃO ESTRATÉGICA  ·  AUTOMAÇÃO &amp;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4241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DataOps na Prática: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169C52"/>
                </a:solidFill>
                <a:latin typeface="Calibri"/>
              </a:rPr>
              <a:t>IA a Serviço da Alta Gestão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6118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CDDAE8"/>
                </a:solidFill>
                <a:latin typeface="Calibri"/>
              </a:rPr>
              <a:t>Evolução da plataforma de automação da Inpasa  —  </a:t>
            </a:r>
            <a:r>
              <a:rPr sz="1900" b="1" i="0">
                <a:solidFill>
                  <a:srgbClr val="2563EB"/>
                </a:solidFill>
                <a:latin typeface="Calibri"/>
              </a:rPr>
              <a:t>FactoryTalk Optix + DataMosaix</a:t>
            </a:r>
            <a:r>
              <a:rPr sz="1900" b="0" i="0">
                <a:solidFill>
                  <a:srgbClr val="CDDAE8"/>
                </a:solidFill>
                <a:latin typeface="Calibri"/>
              </a:rPr>
              <a:t>  vs.  </a:t>
            </a:r>
            <a:r>
              <a:rPr sz="1900" b="1" i="0">
                <a:solidFill>
                  <a:srgbClr val="F59E0B"/>
                </a:solidFill>
                <a:latin typeface="Calibri"/>
              </a:rPr>
              <a:t>PlantPAx + TracOS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709160"/>
            <a:ext cx="5852160" cy="19050"/>
          </a:xfrm>
          <a:prstGeom prst="rect">
            <a:avLst/>
          </a:prstGeom>
          <a:solidFill>
            <a:srgbClr val="3552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754880"/>
            <a:ext cx="10607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627D98"/>
                </a:solidFill>
                <a:latin typeface="Calibri"/>
              </a:rPr>
              <a:t>Apresentado a:  </a:t>
            </a:r>
            <a:r>
              <a:rPr sz="1400" b="1" i="0">
                <a:solidFill>
                  <a:srgbClr val="FFFFFF"/>
                </a:solidFill>
                <a:latin typeface="Calibri"/>
              </a:rPr>
              <a:t>Sr. José  e  Éder</a:t>
            </a:r>
            <a:r>
              <a:rPr sz="1400" b="0" i="0">
                <a:solidFill>
                  <a:srgbClr val="627D98"/>
                </a:solidFill>
                <a:latin typeface="Calibri"/>
              </a:rPr>
              <a:t>      por  </a:t>
            </a:r>
            <a:r>
              <a:rPr sz="1400" b="1" i="0">
                <a:solidFill>
                  <a:srgbClr val="FFFFFF"/>
                </a:solidFill>
                <a:latin typeface="Calibri"/>
              </a:rPr>
              <a:t>Itiel Gonçalves · VP Automação &amp; Elétrica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27D98"/>
                </a:solidFill>
                <a:latin typeface="Calibri"/>
              </a:rPr>
              <a:t>Centro de Operações Integradas (COI)  ·  Benchmarking entre plantas  ·  Manutenção prescritiva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8FA9C2"/>
                </a:solidFill>
                <a:latin typeface="Calibri"/>
              </a:rPr>
              <a:t>Base: sessão estratégica Inpasa × Rockwell  ·  Mayfield Heights, OH  ·  26/06/2026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617220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27D98"/>
                </a:solidFill>
                <a:latin typeface="Calibri"/>
              </a:rPr>
              <a:t>2026.06.28  ·  MULTI  ·  v02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Por que olhar para isso agora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334E68"/>
                </a:solidFill>
                <a:latin typeface="Calibri"/>
              </a:rPr>
              <a:t>A Inpasa cresceu de planta única para uma </a:t>
            </a:r>
            <a:r>
              <a:rPr sz="1600" b="1" i="0">
                <a:solidFill>
                  <a:srgbClr val="102A43"/>
                </a:solidFill>
                <a:latin typeface="Calibri"/>
              </a:rPr>
              <a:t>operação multi-unidades</a:t>
            </a:r>
            <a:r>
              <a:rPr sz="1600" b="0" i="0">
                <a:solidFill>
                  <a:srgbClr val="334E68"/>
                </a:solidFill>
                <a:latin typeface="Calibri"/>
              </a:rPr>
              <a:t> (Sinop, Nova Mutum, Dourados, Balsas, Sidrolândia e novas plantas). </a:t>
            </a:r>
            <a:r>
              <a:rPr sz="1600" b="1" i="0">
                <a:solidFill>
                  <a:srgbClr val="102A43"/>
                </a:solidFill>
                <a:latin typeface="Calibri"/>
              </a:rPr>
              <a:t>Os dados existem — mas vivem isolados dentro de cada planta.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514600"/>
            <a:ext cx="2606040" cy="1097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563EB"/>
                </a:solidFill>
                <a:latin typeface="Calibri"/>
              </a:rPr>
              <a:t>Reunião estratégica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Encontro Inpasa x Rockwell (26/06) sobre parceria de tecnologia e inovação. Contato: Dan DeYoung (VP &amp; GM, Design &amp; Control).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66160" y="2514600"/>
            <a:ext cx="2606040" cy="10972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9476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59E0B"/>
                </a:solidFill>
                <a:latin typeface="Calibri"/>
              </a:rPr>
              <a:t>Dados em silos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Cada unidade tem seu PlantPAx. Não há visão única nem comparação direta entre plantas.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55080" y="2514600"/>
            <a:ext cx="2606040" cy="109728"/>
          </a:xfrm>
          <a:prstGeom prst="round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D93A3A"/>
                </a:solidFill>
                <a:latin typeface="Calibri"/>
              </a:rPr>
              <a:t>Decisão reativa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Manutenção parcialmente reativa (TracOS cobre rotativos) e alarmes acima da norma — falta prescritivo e não rotativos.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44000" y="2514600"/>
            <a:ext cx="2606040" cy="109728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69C52"/>
                </a:solidFill>
                <a:latin typeface="Calibri"/>
              </a:rPr>
              <a:t>Janela de oportunidade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Optix e DataMosaix amadureceram em 2026 (SCADA multi-site + Industrial DataOps).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02A43"/>
                </a:solidFill>
                <a:latin typeface="Calibri"/>
              </a:rPr>
              <a:t>Pergunta central:  </a:t>
            </a:r>
            <a:r>
              <a:rPr sz="1500" b="0" i="1">
                <a:solidFill>
                  <a:srgbClr val="334E68"/>
                </a:solidFill>
                <a:latin typeface="Calibri"/>
              </a:rPr>
              <a:t>como transformar o dado que já geramos em decisão executiva, comparável entre plantas e antecipada por IA?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PARCERIA ESTRATÉGICA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Inpasa × Rockwell — leitura da sessão de 26/06/2026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Encontro executivo no campus da Rockwell (Mayfield Heights, OH). A Inpasa apresentou seus objetivos de automação; a Rockwell trouxe a visão de COI, DataOps e IA industrial.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11680"/>
            <a:ext cx="52578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011680"/>
            <a:ext cx="5257800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130552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Agenda da sessão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788920"/>
            <a:ext cx="461772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Inpasa Goals &amp; Objectives </a:t>
            </a:r>
            <a:r>
              <a:rPr sz="1300">
                <a:solidFill>
                  <a:srgbClr val="334E68"/>
                </a:solidFill>
                <a:latin typeface="Calibri"/>
              </a:rPr>
              <a:t>— Itiel Gonçalves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Trusted Partnership &amp; Ecosystem </a:t>
            </a:r>
            <a:r>
              <a:rPr sz="1300">
                <a:solidFill>
                  <a:srgbClr val="334E68"/>
                </a:solidFill>
                <a:latin typeface="Calibri"/>
              </a:rPr>
              <a:t>— Andrew D'Souza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Process Characterization &amp; Lab Tour </a:t>
            </a:r>
            <a:r>
              <a:rPr sz="1300">
                <a:solidFill>
                  <a:srgbClr val="334E68"/>
                </a:solidFill>
                <a:latin typeface="Calibri"/>
              </a:rPr>
              <a:t>— Ed Walsh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Software Leadership: COI &amp; DataOps </a:t>
            </a:r>
            <a:r>
              <a:rPr sz="1300">
                <a:solidFill>
                  <a:srgbClr val="334E68"/>
                </a:solidFill>
                <a:latin typeface="Calibri"/>
              </a:rPr>
              <a:t>— JP Wright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Hardware Leadership: Process Initiative </a:t>
            </a:r>
            <a:r>
              <a:rPr sz="1300">
                <a:solidFill>
                  <a:srgbClr val="334E68"/>
                </a:solidFill>
                <a:latin typeface="Calibri"/>
              </a:rPr>
              <a:t>— Brian Widman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Strategic Plan &amp; Executive Wrap-up </a:t>
            </a:r>
            <a:r>
              <a:rPr sz="1300">
                <a:solidFill>
                  <a:srgbClr val="334E68"/>
                </a:solidFill>
                <a:latin typeface="Calibri"/>
              </a:rPr>
              <a:t>— Andrew D'Souza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2011680"/>
            <a:ext cx="52578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2011680"/>
            <a:ext cx="5257800" cy="566928"/>
          </a:xfrm>
          <a:prstGeom prst="round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130552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Quem participou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788920"/>
            <a:ext cx="461772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Itiel Gonçalves </a:t>
            </a:r>
            <a:r>
              <a:rPr sz="1300">
                <a:solidFill>
                  <a:srgbClr val="334E68"/>
                </a:solidFill>
                <a:latin typeface="Calibri"/>
              </a:rPr>
              <a:t>— VP Automação &amp; Elétrica (Inpasa)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Dan DeYoung </a:t>
            </a:r>
            <a:r>
              <a:rPr sz="1300">
                <a:solidFill>
                  <a:srgbClr val="334E68"/>
                </a:solidFill>
                <a:latin typeface="Calibri"/>
              </a:rPr>
              <a:t>— VP &amp; GM, Design &amp; Control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Andrew D'Souza </a:t>
            </a:r>
            <a:r>
              <a:rPr sz="1300">
                <a:solidFill>
                  <a:srgbClr val="334E68"/>
                </a:solidFill>
                <a:latin typeface="Calibri"/>
              </a:rPr>
              <a:t>— Diretor Software &amp; Control, LATAM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JP Wright </a:t>
            </a:r>
            <a:r>
              <a:rPr sz="1300">
                <a:solidFill>
                  <a:srgbClr val="334E68"/>
                </a:solidFill>
                <a:latin typeface="Calibri"/>
              </a:rPr>
              <a:t>— Diretor Visualization &amp; Production Data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Brian Widman </a:t>
            </a:r>
            <a:r>
              <a:rPr sz="1300">
                <a:solidFill>
                  <a:srgbClr val="334E68"/>
                </a:solidFill>
                <a:latin typeface="Calibri"/>
              </a:rPr>
              <a:t>— PM Controllers · Chris Stearns — PlantPAx PM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Lúcio Granato </a:t>
            </a:r>
            <a:r>
              <a:rPr sz="1300">
                <a:solidFill>
                  <a:srgbClr val="334E68"/>
                </a:solidFill>
                <a:latin typeface="Calibri"/>
              </a:rPr>
              <a:t>— Solution Architect (time Brasil)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CENÁRIO ATUAL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O que a Inpasa já tem hoje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52578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554480"/>
            <a:ext cx="5257800" cy="6400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PlantPAx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supervisório por planta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423160"/>
            <a:ext cx="46177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DCS/SCADA Rockwell </a:t>
            </a:r>
            <a:r>
              <a:rPr sz="1350">
                <a:solidFill>
                  <a:srgbClr val="334E68"/>
                </a:solidFill>
                <a:latin typeface="Calibri"/>
              </a:rPr>
              <a:t>rodando em cada unidade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PlantPAx parcial </a:t>
            </a:r>
            <a:r>
              <a:rPr sz="1350">
                <a:solidFill>
                  <a:srgbClr val="334E68"/>
                </a:solidFill>
                <a:latin typeface="Calibri"/>
              </a:rPr>
              <a:t>diversos blocos (P_PID, P_VALVE, P_INTLK), parte customizados à Inpasa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Dados nativos </a:t>
            </a:r>
            <a:r>
              <a:rPr sz="1350">
                <a:solidFill>
                  <a:srgbClr val="334E68"/>
                </a:solidFill>
                <a:latin typeface="Calibri"/>
              </a:rPr>
              <a:t>modo Auto/Manual, Operador/Programa, interlocks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Alarmes &amp; Events </a:t>
            </a:r>
            <a:r>
              <a:rPr sz="1350">
                <a:solidFill>
                  <a:srgbClr val="334E68"/>
                </a:solidFill>
                <a:latin typeface="Calibri"/>
              </a:rPr>
              <a:t>alarmes não reconhecidos já rastreados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554480"/>
            <a:ext cx="52578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554480"/>
            <a:ext cx="5257800" cy="640080"/>
          </a:xfrm>
          <a:prstGeom prst="roundRect">
            <a:avLst/>
          </a:prstGeom>
          <a:solidFill>
            <a:srgbClr val="334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1673352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TracOS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manutenção preditiva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423160"/>
            <a:ext cx="46177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TracOS (Tractian) </a:t>
            </a:r>
            <a:r>
              <a:rPr sz="1350">
                <a:solidFill>
                  <a:srgbClr val="334E68"/>
                </a:solidFill>
                <a:latin typeface="Calibri"/>
              </a:rPr>
              <a:t>monitoramento preditivo de rotativos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Evita falhas </a:t>
            </a:r>
            <a:r>
              <a:rPr sz="1350">
                <a:solidFill>
                  <a:srgbClr val="334E68"/>
                </a:solidFill>
                <a:latin typeface="Calibri"/>
              </a:rPr>
              <a:t>em média 5–6 por planta, com antecedência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Ordens de serviço </a:t>
            </a:r>
            <a:r>
              <a:rPr sz="1350">
                <a:solidFill>
                  <a:srgbClr val="334E68"/>
                </a:solidFill>
                <a:latin typeface="Calibri"/>
              </a:rPr>
              <a:t>e gestão de ativos por unidade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Lacuna </a:t>
            </a:r>
            <a:r>
              <a:rPr sz="1350">
                <a:solidFill>
                  <a:srgbClr val="334E68"/>
                </a:solidFill>
                <a:latin typeface="Calibri"/>
              </a:rPr>
              <a:t>não cobre não rotativos nem prescritivo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02A43"/>
                </a:solidFill>
                <a:latin typeface="Calibri"/>
              </a:rPr>
              <a:t>Resumo:  </a:t>
            </a:r>
            <a:r>
              <a:rPr sz="1450" b="0" i="0">
                <a:solidFill>
                  <a:srgbClr val="334E68"/>
                </a:solidFill>
                <a:latin typeface="Calibri"/>
              </a:rPr>
              <a:t>temos dados ricos e uma base Rockwell robusta. O que falta não é coletar — e </a:t>
            </a:r>
            <a:r>
              <a:rPr sz="1450" b="1" i="0">
                <a:solidFill>
                  <a:srgbClr val="102A43"/>
                </a:solidFill>
                <a:latin typeface="Calibri"/>
              </a:rPr>
              <a:t>contextualizar, comparar entre plantas e antecipar com IA.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93A3A"/>
                </a:solidFill>
                <a:latin typeface="Calibri"/>
              </a:rPr>
              <a:t>DIAGNÓSTICO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As 4 lacunas que travam a decisão executiva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1560" y="182880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85623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Silos por planta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51460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O dado fica preso em cada PlantPAx. Não existe uma visão única nem ranking entre unidades.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55448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29400" y="182880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85623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Sem benchmarking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7688" y="251460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Sem comparar entre Sinop, Nova Mutum, Dourados, Balsas e Sidrolândia o índice de alarmes, de malhas em automático, de blocos em programa, de interlocks desativados e de variáveis simuladas.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2336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51560" y="429768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32511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Parcialmente reativa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498348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TracOS já evita 5–6 falhas/planta em rotativos. Falta cobrir equipamentos não rotativos e dar insight prescritivo para eles.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402336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29400" y="429768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32511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Excesso de alarmes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7688" y="498348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Média do setor: 30+ alarmes/operador/hora (5x acima da ISA-18.2); ~70% são nuisance alarms.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92608"/>
            <a:ext cx="128016" cy="50292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VISÃO DE 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Do sensor à diretoria: as 4 camadas do dado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1371600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371600"/>
            <a:ext cx="914400" cy="1078992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371600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1536192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DECISÃO  ·  COI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1938528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Dashboards únicos, benchmarking entre plantas, alertas e ranking em tempo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596896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05840" y="2596896"/>
            <a:ext cx="914400" cy="1078992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596896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761488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EXECUÇÃO INTELIGENTE  ·  FactoryTalk Optix + ResilientEdge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163824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HMI/SCADA multi-site, edge resiliente, loop fechado com IA, acesso remoto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3822192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05840" y="3822192"/>
            <a:ext cx="914400" cy="1078992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822192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986784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DataOps + IA  ·  FactoryTalk DataMosaix + Atlas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4389120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Contextualiza OT/IT/ET, RCA automatizada, agentes no-code, prescritivo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5047488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334E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5840" y="5047488"/>
            <a:ext cx="914400" cy="1078992"/>
          </a:xfrm>
          <a:prstGeom prst="roundRect">
            <a:avLst/>
          </a:prstGeom>
          <a:solidFill>
            <a:srgbClr val="334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047488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5212080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EDGE / OT  ·  PlantPAx + sensores + Tractian (o que já temos)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614416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Controladores, blocos, alarmes e monitoramento de rotativos (Tractian) por planta</a:t>
            </a:r>
          </a:p>
        </p:txBody>
      </p:sp>
      <p:sp>
        <p:nvSpPr>
          <p:cNvPr id="26" name="Up Arrow 25"/>
          <p:cNvSpPr/>
          <p:nvPr/>
        </p:nvSpPr>
        <p:spPr>
          <a:xfrm>
            <a:off x="10561320" y="1371600"/>
            <a:ext cx="640080" cy="4754880"/>
          </a:xfrm>
          <a:prstGeom prst="upArrow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78440" y="617220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69C52"/>
                </a:solidFill>
                <a:latin typeface="Calibri"/>
              </a:rPr>
              <a:t>valor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CAMADA DE EXECUÇÃO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FactoryTalk Optix + ResilientEdge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334E68"/>
                </a:solidFill>
                <a:latin typeface="Calibri"/>
              </a:rPr>
              <a:t>De HMI para a </a:t>
            </a:r>
            <a:r>
              <a:rPr sz="1600" b="1" i="0">
                <a:solidFill>
                  <a:srgbClr val="2563EB"/>
                </a:solidFill>
                <a:latin typeface="Calibri"/>
              </a:rPr>
              <a:t>base de execução inteligente</a:t>
            </a:r>
            <a:r>
              <a:rPr sz="1600" b="0" i="0">
                <a:solidFill>
                  <a:srgbClr val="334E68"/>
                </a:solidFill>
                <a:latin typeface="Calibri"/>
              </a:rPr>
              <a:t> da Rockwell: HMI/SCADA cloud-enabled, projetada e implantada pelo navegador.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14884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14884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233172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SCADA multi-site (2026)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80720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Centraliza o supervisório de todas as plantas em uma plataforma, com redundância de servidor e workstation clients.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214884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214884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7688" y="233172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ResilientEdge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8" y="280720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Execução edge resiliente + analytics em nuvem, treino de IA e orquestração corporativa. Disponível global desde 18/06/2026.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02336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2336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420624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Acesso remoto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468172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FactoryTalk Remote Access via VPN: investigar e resolver antes de viajar à planta remota.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402336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80" y="402336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7688" y="420624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Aberto / OPC UA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7688" y="468172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Comunica nativamente com controladores Rockwell e de terceiros; roda em qualquer hardware.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806440"/>
            <a:ext cx="6949440" cy="457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Para a Inpasa: o caminho natural do COI centralizado multi-planta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CAMADA DE EXECUÇÃO · FACTORYTALK OPTIX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Optix AI Design Assistance — HMI assistido por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Projetar e implantar telas com apoio de IA: do rascunho à aplicação funcional.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ptix_ai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Gera telas a partir de Figma, foto ou rascunho à mão; conteúdo por texto conversacional; auto-geração de modelos e conectividade — releases v1.8 a v1.9 (2026).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CAMADA DE DATAOPS +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FactoryTalk DataMosaix + Atlas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B47105"/>
                </a:solidFill>
                <a:latin typeface="Calibri"/>
              </a:rPr>
              <a:t>Industrial DataOps do edge à nuvem: </a:t>
            </a:r>
            <a:r>
              <a:rPr sz="1450" b="0" i="0">
                <a:solidFill>
                  <a:srgbClr val="334E68"/>
                </a:solidFill>
                <a:latin typeface="Calibri"/>
              </a:rPr>
              <a:t>contextualiza dados de operação, engenharia e TI para casos de uso de 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10512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810512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1920240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RCA automatizada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221992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Análise de causa raiz sem precisar de um analista de dados dedicado.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2468880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ao parar uma planta, o agente cruza alarmes, malhas e histórico e aponta a causa provável em segundos.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944368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944368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3054096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Manutenção prescritiva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3355848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Detecta desgaste precoce e recomenda a ação antes da parada custosa.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602736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a posição real de uma válvula de controle passa a divergir do percentual comandado além do histórico — tendência de desgaste sinalizada antes da falha.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78224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078224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4187952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Agentes de IA contextuais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4489704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Monitoram variáveis de processo e geram alertas contextualizados.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736592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exatamente o que o Hub de Automação está construindo — alerta quando uma malha foge do padrão da planta.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212080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5212080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9848" y="5321808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No-code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623560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A equipe de automação cria fluxos e agentes seguros sem programar.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870448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monta e ajusta os fluxos do DataMosaix sem depender de TI nem de código.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CAMADA DE DATAOPS + IA · FACTORYTALK DATAMOSAIX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DataMosaix Atlas AI — agentes autônomos na operação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Inteligência humana e agentes autônomos atuando em conjunto na operação industrial.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tamosaix_atlas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Agentes que decidem e agem com base em metas de negócio para aumentar produção e eliminar paradas, desperdício e risco; gêmeo digital que se aprimora continuamente.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COMPARATIVO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Hoje (PlantPAx + TracOS)  vs.  Proposto (Optix + DataMosaix)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554480"/>
            <a:ext cx="2743200" cy="512064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Capacidade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0440" y="1554480"/>
            <a:ext cx="3657600" cy="512064"/>
          </a:xfrm>
          <a:prstGeom prst="rect">
            <a:avLst/>
          </a:prstGeom>
          <a:solidFill>
            <a:srgbClr val="D93A3A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Hoje</a:t>
            </a:r>
          </a:p>
        </p:txBody>
      </p:sp>
      <p:sp>
        <p:nvSpPr>
          <p:cNvPr id="9" name="Rectangle 8"/>
          <p:cNvSpPr/>
          <p:nvPr/>
        </p:nvSpPr>
        <p:spPr>
          <a:xfrm>
            <a:off x="7178040" y="1554480"/>
            <a:ext cx="4206240" cy="512064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Com Optix + DataMosaix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066544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Supervisório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2066544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Por planta, isolado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78040" y="2066544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Multi-site centralizado (SCADA Optix)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578608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Visão entre plantas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0440" y="2578608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Inexistente / manual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2578608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Dashboards únicos e comparáveis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090672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Padrão de HMI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20440" y="3090672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PlantPAx parcial / customizado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78040" y="3090672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PlantPAx 2026 + ISA-101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602736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Manutenção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20440" y="3602736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Preditiva em rotativos (TracOS)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78040" y="3602736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Prescritiva, incl. não rotativos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114800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Causa raiz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20440" y="4114800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Investigação manual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78040" y="4114800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RCA automatizada por agente de 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626864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Alarmes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20440" y="4626864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Acima da ISA-18.2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8040" y="4626864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Benchmarking e redução de nuisance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138928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Acesso remoto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20440" y="5138928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Via VPN (já temos)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78040" y="5138928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Mantém VPN + Remote Access (Optix)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650992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IT / OT / ET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20440" y="5650992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Silos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78040" y="5650992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Convergência em plataforma única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93A3A"/>
                </a:solidFill>
                <a:latin typeface="Calibri"/>
              </a:rPr>
              <a:t>BENCHMARKING DE ALARMES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A norma ISA-18.2 e a oportunidade imediata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554480"/>
          <a:ext cx="585216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903720" y="169164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D93A3A"/>
                </a:solidFill>
                <a:latin typeface="Calibri"/>
              </a:rPr>
              <a:t>5x acima do recomendado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2423160"/>
            <a:ext cx="45720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>
                <a:solidFill>
                  <a:srgbClr val="334E68"/>
                </a:solidFill>
                <a:latin typeface="Calibri"/>
              </a:rPr>
              <a:t>Planta bem gerenciada: &lt; 6 alarmes/operador/hora em operação normal.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>
                <a:solidFill>
                  <a:srgbClr val="334E68"/>
                </a:solidFill>
                <a:latin typeface="Calibri"/>
              </a:rPr>
              <a:t>Média das plantas: 30+ por operador/hora — cinco vezes o máximo.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>
                <a:solidFill>
                  <a:srgbClr val="334E68"/>
                </a:solidFill>
                <a:latin typeface="Calibri"/>
              </a:rPr>
              <a:t>~70% dos alarmes em DCS/SCADA típicos são nuisance (não exigem ação).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Grafana (já implantado) </a:t>
            </a:r>
            <a:r>
              <a:rPr sz="1350">
                <a:solidFill>
                  <a:srgbClr val="334E68"/>
                </a:solidFill>
                <a:latin typeface="Calibri"/>
              </a:rPr>
              <a:t>trata nuisance alarms, bad actors e alarm floods sobre o PlantPAx adaptado — base que já operamos hoje.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INDICADORES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KPIs de benchmarking que o ecossistema já mede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3931920" cy="457200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KPI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1481328"/>
            <a:ext cx="3931920" cy="457200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Ferramenta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1481328"/>
            <a:ext cx="2743200" cy="457200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Disponível hoje?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9385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Alarmes por operador/hora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19385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Grafana (hoje) + DataMosaix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41080" y="19385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Sim — sobre PlantPAx adaptado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Alarmes não reconhecidos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23957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FT Alarms &amp; Events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41080" y="2395728"/>
            <a:ext cx="274320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Nativo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8529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Controles em Auto / Manual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28529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PlantPAx P_PID, P_VALVE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41080" y="28529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Dado já no controlador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3101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Blocos Operador / Programa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09160" y="33101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PlantPAx Command Source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41080" y="3310128"/>
            <a:ext cx="274320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Campo nativo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7673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Interlocks desabilitados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9160" y="37673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PlantPAx P_Gate + P_INTLK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41080" y="37673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Rastreável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2245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Variáveis simuladas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09160" y="42245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Tag audit via Studio 5000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41080" y="4224528"/>
            <a:ext cx="274320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Possível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6817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Bad actors / nuisance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09160" y="46817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Grafana (hoje)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1080" y="46817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Sim — PlantPAx adaptado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138928"/>
            <a:ext cx="3931920" cy="457200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Benchmarking entre plantas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09160" y="5138928"/>
            <a:ext cx="3931920" cy="457200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DataMosaix (multi-site)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641080" y="5138928"/>
            <a:ext cx="2743200" cy="457200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Novidade que entra agora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172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1">
                <a:solidFill>
                  <a:srgbClr val="627D98"/>
                </a:solidFill>
                <a:latin typeface="Calibri"/>
              </a:rPr>
              <a:t>Quase tudo já existe no dado atual — falta a camada que agrega e compara: o DataMosaix.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92608"/>
            <a:ext cx="128016" cy="502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37744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O DELTA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O que o DataMosaix adiciona ao que já temos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C8D6E4"/>
                </a:solidFill>
                <a:latin typeface="Calibri"/>
              </a:rPr>
              <a:t>Hoje o dado vive dentro de cada PlantPAx. O DataMosaix é a camada que </a:t>
            </a:r>
            <a:r>
              <a:rPr sz="1550" b="1" i="0">
                <a:solidFill>
                  <a:srgbClr val="F59E0B"/>
                </a:solidFill>
                <a:latin typeface="Calibri"/>
              </a:rPr>
              <a:t>agrega, contextualiza e compara</a:t>
            </a:r>
            <a:r>
              <a:rPr sz="1550" b="0" i="0">
                <a:solidFill>
                  <a:srgbClr val="C8D6E4"/>
                </a:solidFill>
                <a:latin typeface="Calibri"/>
              </a:rPr>
              <a:t> — uma visão única de toda a operação.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Indicadores comparáveis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Alarmes/operador·hora, % de malhas em automático, blocos em programa, interlocks e variáveis simuladas — além do OEE — por planta, num só painel.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6616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9476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Planejamento enterprise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Decisão de produção, manutenção e ações estratégicas em nível corporativo — visão consolidada da companhia, não por site isolado.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5508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Visão multi-site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Sinop, Nova Mutum, Dourados, Balsas, Sidrolândia e novas plantas, lado a lado, na mesma régua.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7260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Contexto OT + IT + 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Une OT (processo / chão de fábrica), IT (sistemas corporativos / ERP) e ET (engenharia / ativos) num só contexto pronto para a IA.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APLICAÇÃO DIRETA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Como isso aparece no COI da Inpasa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0020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51560" y="187452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192024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Tela única em tempo real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58775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Indicadores ao vivo por planta, lado a lado: % de malhas em automático, índice de alarmes/operador·hora, blocos em programa, interlocks e variáveis simuladas.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60020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629400" y="187452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192024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Ranking de plantas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7688" y="258775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Ordena as unidades pelos mesmos indicadores — quem está dentro e fora da ISA-18.2 — destacando boa prática e quem precisa de atenção.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2336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51560" y="429768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34340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Alertas automáticos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501091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Disparo ao cruzar o limite (ex.: 6 alarmes/operador·hora) — notificação por WhatsApp, e-mail ou o canal que o gestor preferir.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402336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29400" y="429768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434340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Comparativo histórico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7688" y="501091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Revela divergências por turno e antes/depois de parada, além de outros padrões — insights para operação e manutenção.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Como evolui — do que já temos ao COI prescritivo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34290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9C52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737360"/>
            <a:ext cx="3429000" cy="86868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4708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Fase 1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Já implementado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788920"/>
            <a:ext cx="2862072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Benchmarking de alarmes e KPIs já rodam hoje no Grafana — que já temos e está implantado — sobre o PlantPAx adaptado. Base pronta; o equivalente Rockwell (VantagePoint) não é necessário para começar.</a:t>
            </a:r>
          </a:p>
        </p:txBody>
      </p:sp>
      <p:sp>
        <p:nvSpPr>
          <p:cNvPr id="11" name="Chevron 10"/>
          <p:cNvSpPr/>
          <p:nvPr/>
        </p:nvSpPr>
        <p:spPr>
          <a:xfrm>
            <a:off x="4160520" y="3154680"/>
            <a:ext cx="365760" cy="365760"/>
          </a:xfrm>
          <a:prstGeom prst="chevron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70832" y="1737360"/>
            <a:ext cx="34290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70832" y="1737360"/>
            <a:ext cx="3429000" cy="8686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84708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Fase 2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Preditivo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788920"/>
            <a:ext cx="2862072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O DataMosaix estende o monitoramento preditivo aos equipamentos não rotativos — os rotativos já são cobertos pela Tractian — e agrega as plantas em dashboards comparativos.</a:t>
            </a:r>
          </a:p>
        </p:txBody>
      </p:sp>
      <p:sp>
        <p:nvSpPr>
          <p:cNvPr id="16" name="Chevron 15"/>
          <p:cNvSpPr/>
          <p:nvPr/>
        </p:nvSpPr>
        <p:spPr>
          <a:xfrm>
            <a:off x="7754112" y="3154680"/>
            <a:ext cx="365760" cy="365760"/>
          </a:xfrm>
          <a:prstGeom prst="chevron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964424" y="1737360"/>
            <a:ext cx="34290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964424" y="1737360"/>
            <a:ext cx="3429000" cy="8686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38744" y="184708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Fase 3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Prescritivo + COI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788920"/>
            <a:ext cx="2862072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Em simulações de paradas em vários sites, com o COI centralizado a retomada das plantas ficou mais estável, rápida e otimizada — operação e manutenção. Com o time central treinando os sites, é possível até evitar desarmes.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212080"/>
            <a:ext cx="8229600" cy="457200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ResilientEdge: disponível global desde 18/06/2026  ·  SCADA multi-site em rollout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DECISÃO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O que pedimos para avançar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1560" y="1865376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1700784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Aprovar o piloto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103120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Começar por 1–2 indicadores em todas as plantas (ex.: controles em automático e índice de alarmes/operador·hora), ampliando depois para os demais. Estimativa: ~4–6 semanas para os 2 primeiros, conforme o volume de tags por unidade.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761488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3072384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2907792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Sequência de indicadores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310128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Controles em automático e índice de alarmes primeiro; depois blocos em programa, interlocks desabilitados e variáveis simuladas.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968496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51560" y="4279392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114800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Interlocutores Rockwell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45171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Time EUA: Andrew D'Souza (Software &amp; Control LATAM), JP Wright (Visualization &amp; Production Data), Brian Widman (Controllers), Chris Stearns (PlantPAx). Time Brasil: Lúcio Granato e Marcel. Anfitrião: Dan DeYoung (VP &amp; GM, Design &amp; Control).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175504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51560" y="5486400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321808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Designar squad interno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5724144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Gestores e equipe do Hub de Automação conduzindo os fluxos no-code do DataMosaix.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2412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O dado já existe.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69C52"/>
                </a:solidFill>
                <a:latin typeface="Calibri"/>
              </a:rPr>
              <a:t>Falta transformá-lo em decisão.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CDDAE8"/>
                </a:solidFill>
                <a:latin typeface="Calibri"/>
              </a:rPr>
              <a:t>Optix + DataMosaix conectam o que a Inpasa já tem (PlantPAx + TracOS) a um COI único,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CDDAE8"/>
                </a:solidFill>
                <a:latin typeface="Calibri"/>
              </a:rPr>
              <a:t>com benchmarking entre plantas e IA prescritiva — começando pelo ganho rápido.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5212080"/>
            <a:ext cx="5029200" cy="19050"/>
          </a:xfrm>
          <a:prstGeom prst="rect">
            <a:avLst/>
          </a:prstGeom>
          <a:solidFill>
            <a:srgbClr val="3552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3949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Gestão Estratégica de Automação  ·  Inpasa  ·  2026.06.28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